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409" r:id="rId3"/>
    <p:sldId id="257" r:id="rId4"/>
    <p:sldId id="258" r:id="rId5"/>
    <p:sldId id="412" r:id="rId6"/>
    <p:sldId id="411" r:id="rId7"/>
    <p:sldId id="259" r:id="rId8"/>
    <p:sldId id="260" r:id="rId9"/>
    <p:sldId id="261" r:id="rId10"/>
    <p:sldId id="262" r:id="rId11"/>
    <p:sldId id="263" r:id="rId12"/>
    <p:sldId id="410" r:id="rId13"/>
    <p:sldId id="265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/>
    <p:restoredTop sz="94670"/>
  </p:normalViewPr>
  <p:slideViewPr>
    <p:cSldViewPr snapToGrid="0">
      <p:cViewPr varScale="1">
        <p:scale>
          <a:sx n="143" d="100"/>
          <a:sy n="143" d="100"/>
        </p:scale>
        <p:origin x="9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A5777-35FB-3B44-94AE-39F67960B30D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A9687-AE99-D74E-ABB0-43A2ABE9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7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4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94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5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2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0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1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9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9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468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5345" y="599314"/>
            <a:ext cx="7738011" cy="5463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1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/>
              <a:t>Gazi</a:t>
            </a:r>
            <a:r>
              <a:rPr lang="en-GB" spc="-45"/>
              <a:t> </a:t>
            </a:r>
            <a:r>
              <a:rPr lang="en-GB"/>
              <a:t>University</a:t>
            </a:r>
            <a:r>
              <a:rPr lang="en-GB" spc="-20"/>
              <a:t> </a:t>
            </a:r>
            <a:r>
              <a:rPr lang="en-GB"/>
              <a:t>Industrial</a:t>
            </a:r>
            <a:r>
              <a:rPr lang="en-GB" spc="-20"/>
              <a:t> </a:t>
            </a:r>
            <a:r>
              <a:rPr lang="en-GB"/>
              <a:t>Engineering</a:t>
            </a:r>
            <a:r>
              <a:rPr lang="en-GB" spc="-55"/>
              <a:t> </a:t>
            </a:r>
            <a:r>
              <a:rPr lang="en-GB"/>
              <a:t>–</a:t>
            </a:r>
            <a:r>
              <a:rPr lang="en-GB" spc="-55"/>
              <a:t> </a:t>
            </a:r>
            <a:r>
              <a:rPr lang="en-GB"/>
              <a:t>Computer</a:t>
            </a:r>
            <a:r>
              <a:rPr lang="en-GB" spc="-30"/>
              <a:t> </a:t>
            </a:r>
            <a:r>
              <a:rPr lang="en-GB" spc="-10"/>
              <a:t>Programming</a:t>
            </a:r>
            <a:r>
              <a:rPr lang="en-GB" spc="-30"/>
              <a:t> </a:t>
            </a:r>
            <a:r>
              <a:rPr lang="en-GB"/>
              <a:t>Lecture</a:t>
            </a:r>
            <a:r>
              <a:rPr lang="en-GB" spc="-50"/>
              <a:t> </a:t>
            </a:r>
            <a:r>
              <a:rPr lang="en-GB" spc="-10"/>
              <a:t>Notes</a:t>
            </a:r>
            <a:endParaRPr lang="en-GB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877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946" y="842577"/>
            <a:ext cx="1431814" cy="3517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8255" y="586741"/>
            <a:ext cx="897518" cy="10005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7069" y="586741"/>
            <a:ext cx="4172476" cy="10005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/>
              <a:t>Gazi</a:t>
            </a:r>
            <a:r>
              <a:rPr lang="en-GB" spc="-45"/>
              <a:t> </a:t>
            </a:r>
            <a:r>
              <a:rPr lang="en-GB"/>
              <a:t>University</a:t>
            </a:r>
            <a:r>
              <a:rPr lang="en-GB" spc="-20"/>
              <a:t> </a:t>
            </a:r>
            <a:r>
              <a:rPr lang="en-GB"/>
              <a:t>Industrial</a:t>
            </a:r>
            <a:r>
              <a:rPr lang="en-GB" spc="-20"/>
              <a:t> </a:t>
            </a:r>
            <a:r>
              <a:rPr lang="en-GB"/>
              <a:t>Engineering</a:t>
            </a:r>
            <a:r>
              <a:rPr lang="en-GB" spc="-55"/>
              <a:t> </a:t>
            </a:r>
            <a:r>
              <a:rPr lang="en-GB"/>
              <a:t>–</a:t>
            </a:r>
            <a:r>
              <a:rPr lang="en-GB" spc="-55"/>
              <a:t> </a:t>
            </a:r>
            <a:r>
              <a:rPr lang="en-GB"/>
              <a:t>Computer</a:t>
            </a:r>
            <a:r>
              <a:rPr lang="en-GB" spc="-30"/>
              <a:t> </a:t>
            </a:r>
            <a:r>
              <a:rPr lang="en-GB" spc="-10"/>
              <a:t>Programming</a:t>
            </a:r>
            <a:r>
              <a:rPr lang="en-GB" spc="-30"/>
              <a:t> </a:t>
            </a:r>
            <a:r>
              <a:rPr lang="en-GB"/>
              <a:t>Lecture</a:t>
            </a:r>
            <a:r>
              <a:rPr lang="en-GB" spc="-50"/>
              <a:t> </a:t>
            </a:r>
            <a:r>
              <a:rPr lang="en-GB" spc="-10"/>
              <a:t>Notes</a:t>
            </a:r>
            <a:endParaRPr lang="en-GB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5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3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  <p:sldLayoutId id="2147483687" r:id="rId12"/>
    <p:sldLayoutId id="2147483688" r:id="rId13"/>
    <p:sldLayoutId id="2147483689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19F2F-6A96-8A6F-5ACD-C9AACA119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5128" y="4812106"/>
            <a:ext cx="6400223" cy="1334655"/>
          </a:xfrm>
        </p:spPr>
        <p:txBody>
          <a:bodyPr anchor="b">
            <a:normAutofit/>
          </a:bodyPr>
          <a:lstStyle/>
          <a:p>
            <a:r>
              <a:rPr lang="en-US" dirty="0"/>
              <a:t>IE104-COMPUTER PROGRAMMING I</a:t>
            </a:r>
          </a:p>
        </p:txBody>
      </p:sp>
      <p:pic>
        <p:nvPicPr>
          <p:cNvPr id="1028" name="Picture 4" descr="Gazi University | Study in Turkey | Find And Study – No Exam, Public &amp;  Private Universities">
            <a:extLst>
              <a:ext uri="{FF2B5EF4-FFF2-40B4-BE49-F238E27FC236}">
                <a16:creationId xmlns:a16="http://schemas.microsoft.com/office/drawing/2014/main" id="{27004BED-D625-39FF-01A4-AB83332F9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6" t="5199" r="18557" b="5816"/>
          <a:stretch>
            <a:fillRect/>
          </a:stretch>
        </p:blipFill>
        <p:spPr bwMode="auto">
          <a:xfrm>
            <a:off x="3371335" y="711119"/>
            <a:ext cx="5449330" cy="49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15128" y="6274446"/>
            <a:ext cx="697687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4A46B7-E1E2-7324-4AB1-9B7F40B89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075" y="1436674"/>
            <a:ext cx="10145849" cy="2919564"/>
          </a:xfrm>
        </p:spPr>
        <p:txBody>
          <a:bodyPr anchor="t">
            <a:noAutofit/>
          </a:bodyPr>
          <a:lstStyle/>
          <a:p>
            <a:pPr algn="ctr"/>
            <a:r>
              <a:rPr lang="en-US" sz="4400" dirty="0">
                <a:latin typeface="Monaco" pitchFamily="2" charset="77"/>
                <a:cs typeface="Consolas" panose="020B0609020204030204" pitchFamily="49" charset="0"/>
              </a:rPr>
              <a:t>GAZİ UNIVERSITY</a:t>
            </a:r>
            <a:br>
              <a:rPr lang="en-US" sz="4400" dirty="0">
                <a:latin typeface="Monaco" pitchFamily="2" charset="77"/>
                <a:cs typeface="Consolas" panose="020B0609020204030204" pitchFamily="49" charset="0"/>
              </a:rPr>
            </a:br>
            <a:br>
              <a:rPr lang="en-US" sz="4400" dirty="0">
                <a:latin typeface="Monaco" pitchFamily="2" charset="77"/>
                <a:cs typeface="Consolas" panose="020B0609020204030204" pitchFamily="49" charset="0"/>
              </a:rPr>
            </a:br>
            <a:r>
              <a:rPr lang="en-US" sz="4400" dirty="0">
                <a:latin typeface="Monaco" pitchFamily="2" charset="77"/>
              </a:rPr>
              <a:t>FACULTY OF ENGINEERING</a:t>
            </a:r>
            <a:br>
              <a:rPr lang="en-US" sz="4400" dirty="0">
                <a:latin typeface="Monaco" pitchFamily="2" charset="77"/>
              </a:rPr>
            </a:br>
            <a:r>
              <a:rPr lang="en-US" sz="4400" dirty="0">
                <a:latin typeface="Monaco" pitchFamily="2" charset="77"/>
                <a:ea typeface="Cambria Math" panose="02040503050406030204" pitchFamily="18" charset="0"/>
              </a:rPr>
              <a:t>DEPARTMENT OF INDUSTRIAL ENGINEERING</a:t>
            </a:r>
            <a:endParaRPr lang="en-US" sz="4400" dirty="0">
              <a:latin typeface="Monaco" pitchFamily="2" charset="77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36926-0789-AE8C-3965-5009FA750AA5}"/>
              </a:ext>
            </a:extLst>
          </p:cNvPr>
          <p:cNvSpPr txBox="1"/>
          <p:nvPr/>
        </p:nvSpPr>
        <p:spPr>
          <a:xfrm>
            <a:off x="5215128" y="6387776"/>
            <a:ext cx="5142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all" spc="300" dirty="0"/>
              <a:t>WEEK 7</a:t>
            </a:r>
            <a:r>
              <a:rPr lang="en-US" b="1" cap="all" spc="300"/>
              <a:t>: CONDITIONAL STATEMENTS</a:t>
            </a:r>
            <a:endParaRPr lang="en-US" b="1" cap="all" spc="300" dirty="0"/>
          </a:p>
          <a:p>
            <a:endParaRPr lang="en-US" b="1" cap="all" spc="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96DE3-A5C8-493A-FB13-6829E88BDD9B}"/>
              </a:ext>
            </a:extLst>
          </p:cNvPr>
          <p:cNvSpPr txBox="1"/>
          <p:nvPr/>
        </p:nvSpPr>
        <p:spPr>
          <a:xfrm>
            <a:off x="576649" y="5916804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Lecturer : Dr Ercan Ezin</a:t>
            </a:r>
          </a:p>
        </p:txBody>
      </p:sp>
    </p:spTree>
    <p:extLst>
      <p:ext uri="{BB962C8B-B14F-4D97-AF65-F5344CB8AC3E}">
        <p14:creationId xmlns:p14="http://schemas.microsoft.com/office/powerpoint/2010/main" val="2657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6DBE8-6610-38BC-1002-71CE63EB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Attandance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A2A74-FC8A-85A9-5199-2C0D4E75C498}"/>
              </a:ext>
            </a:extLst>
          </p:cNvPr>
          <p:cNvSpPr txBox="1"/>
          <p:nvPr/>
        </p:nvSpPr>
        <p:spPr>
          <a:xfrm>
            <a:off x="640079" y="4304538"/>
            <a:ext cx="3156857" cy="1362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b="1" cap="all" spc="300"/>
              <a:t>Please do not share the link to anyone!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7F310C2E-F229-6B58-D28D-5405AC51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015" y="195692"/>
            <a:ext cx="6250048" cy="62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7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4618" y="396177"/>
            <a:ext cx="6307778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20" dirty="0"/>
              <a:t>Conditional</a:t>
            </a:r>
            <a:r>
              <a:rPr spc="-130" dirty="0"/>
              <a:t> </a:t>
            </a:r>
            <a:r>
              <a:rPr spc="-20" dirty="0"/>
              <a:t>Statements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618" y="1233195"/>
            <a:ext cx="8388350" cy="208533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6850" marR="5080" indent="-184785" algn="just">
              <a:lnSpc>
                <a:spcPct val="91000"/>
              </a:lnSpc>
              <a:spcBef>
                <a:spcPts val="37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In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some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cases,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it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necessary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change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flow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program 	</a:t>
            </a:r>
            <a:r>
              <a:rPr sz="2250" dirty="0">
                <a:latin typeface="Calibri"/>
                <a:cs typeface="Calibri"/>
              </a:rPr>
              <a:t>or</a:t>
            </a:r>
            <a:r>
              <a:rPr sz="2250" spc="22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perform</a:t>
            </a:r>
            <a:r>
              <a:rPr sz="2250" spc="229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different</a:t>
            </a:r>
            <a:r>
              <a:rPr sz="2250" spc="23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operations.</a:t>
            </a:r>
            <a:r>
              <a:rPr sz="2250" spc="229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Sometimes</a:t>
            </a:r>
            <a:r>
              <a:rPr sz="2250" spc="22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making</a:t>
            </a:r>
            <a:r>
              <a:rPr sz="2250" spc="240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choices</a:t>
            </a:r>
            <a:r>
              <a:rPr sz="2250" spc="235" dirty="0">
                <a:latin typeface="Calibri"/>
                <a:cs typeface="Calibri"/>
              </a:rPr>
              <a:t>  </a:t>
            </a:r>
            <a:r>
              <a:rPr sz="2250" spc="-25" dirty="0">
                <a:latin typeface="Calibri"/>
                <a:cs typeface="Calibri"/>
              </a:rPr>
              <a:t>or 	</a:t>
            </a:r>
            <a:r>
              <a:rPr sz="2250" dirty="0">
                <a:latin typeface="Calibri"/>
                <a:cs typeface="Calibri"/>
              </a:rPr>
              <a:t>repeating</a:t>
            </a:r>
            <a:r>
              <a:rPr sz="2250" spc="43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actions</a:t>
            </a:r>
            <a:r>
              <a:rPr sz="2250" spc="4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needs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for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program</a:t>
            </a:r>
            <a:r>
              <a:rPr sz="2250" spc="4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40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certain</a:t>
            </a:r>
            <a:r>
              <a:rPr sz="2250" spc="44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number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of 	</a:t>
            </a:r>
            <a:r>
              <a:rPr sz="2250" spc="-10" dirty="0">
                <a:latin typeface="Calibri"/>
                <a:cs typeface="Calibri"/>
              </a:rPr>
              <a:t>times.</a:t>
            </a:r>
            <a:endParaRPr sz="2250" dirty="0">
              <a:latin typeface="Calibri"/>
              <a:cs typeface="Calibri"/>
            </a:endParaRPr>
          </a:p>
          <a:p>
            <a:pPr marL="197485" indent="-184785" algn="just">
              <a:lnSpc>
                <a:spcPts val="2575"/>
              </a:lnSpc>
              <a:spcBef>
                <a:spcPts val="960"/>
              </a:spcBef>
              <a:buFont typeface="Arial"/>
              <a:buChar char="•"/>
              <a:tabLst>
                <a:tab pos="197485" algn="l"/>
              </a:tabLst>
            </a:pPr>
            <a:r>
              <a:rPr sz="2250" dirty="0">
                <a:latin typeface="Calibri"/>
                <a:cs typeface="Calibri"/>
              </a:rPr>
              <a:t>Condition</a:t>
            </a:r>
            <a:r>
              <a:rPr sz="2250" spc="26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and</a:t>
            </a:r>
            <a:r>
              <a:rPr sz="2250" spc="26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loop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structures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used</a:t>
            </a:r>
            <a:r>
              <a:rPr sz="2250" spc="25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perform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such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75"/>
              </a:lnSpc>
            </a:pPr>
            <a:r>
              <a:rPr sz="2250" spc="-10" dirty="0">
                <a:latin typeface="Calibri"/>
                <a:cs typeface="Calibri"/>
              </a:rPr>
              <a:t>operations.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618" y="3498169"/>
            <a:ext cx="838835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8120" indent="-185420">
              <a:spcBef>
                <a:spcPts val="130"/>
              </a:spcBef>
              <a:buFont typeface="Arial"/>
              <a:buChar char="•"/>
              <a:tabLst>
                <a:tab pos="198120" algn="l"/>
                <a:tab pos="880744" algn="l"/>
                <a:tab pos="2094230" algn="l"/>
                <a:tab pos="3600450" algn="l"/>
                <a:tab pos="4205605" algn="l"/>
                <a:tab pos="4697730" algn="l"/>
                <a:tab pos="5457190" algn="l"/>
                <a:tab pos="5899150" algn="l"/>
                <a:tab pos="7057390" algn="l"/>
              </a:tabLst>
            </a:pPr>
            <a:r>
              <a:rPr sz="2250" spc="-25" dirty="0">
                <a:latin typeface="Calibri"/>
                <a:cs typeface="Calibri"/>
              </a:rPr>
              <a:t>Two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different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statements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can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be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0" dirty="0">
                <a:latin typeface="Calibri"/>
                <a:cs typeface="Calibri"/>
              </a:rPr>
              <a:t>used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perform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conditional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973" y="3870526"/>
            <a:ext cx="2647315" cy="144399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spcBef>
                <a:spcPts val="985"/>
              </a:spcBef>
            </a:pPr>
            <a:r>
              <a:rPr sz="2250" dirty="0">
                <a:latin typeface="Calibri"/>
                <a:cs typeface="Calibri"/>
              </a:rPr>
              <a:t>operations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C#:</a:t>
            </a:r>
            <a:endParaRPr sz="2250" dirty="0">
              <a:latin typeface="Calibri"/>
              <a:cs typeface="Calibri"/>
            </a:endParaRPr>
          </a:p>
          <a:p>
            <a:pPr marL="508634" indent="-310515">
              <a:spcBef>
                <a:spcPts val="910"/>
              </a:spcBef>
              <a:buFont typeface="Wingdings"/>
              <a:buChar char=""/>
              <a:tabLst>
                <a:tab pos="508634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  <a:p>
            <a:pPr marL="508634" indent="-310515">
              <a:spcBef>
                <a:spcPts val="910"/>
              </a:spcBef>
              <a:buFont typeface="Wingdings"/>
              <a:buChar char=""/>
              <a:tabLst>
                <a:tab pos="508634" algn="l"/>
              </a:tabLst>
            </a:pPr>
            <a:r>
              <a:rPr sz="2400" dirty="0">
                <a:latin typeface="Calibri"/>
                <a:cs typeface="Calibri"/>
              </a:rPr>
              <a:t>switch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773" y="397202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8206" y="1289020"/>
            <a:ext cx="10890928" cy="11798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98120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main</a:t>
            </a:r>
            <a:r>
              <a:rPr spc="-50" dirty="0"/>
              <a:t> </a:t>
            </a:r>
            <a:r>
              <a:rPr spc="-10" dirty="0"/>
              <a:t>statement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flow</a:t>
            </a:r>
            <a:r>
              <a:rPr spc="-35" dirty="0"/>
              <a:t> </a:t>
            </a:r>
            <a:r>
              <a:rPr dirty="0"/>
              <a:t>controls</a:t>
            </a:r>
            <a:r>
              <a:rPr spc="-25" dirty="0"/>
              <a:t> </a:t>
            </a:r>
            <a:r>
              <a:rPr spc="-50" dirty="0"/>
              <a:t>.</a:t>
            </a:r>
          </a:p>
          <a:p>
            <a:pPr marL="198755" indent="-18605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198755" algn="l"/>
              </a:tabLst>
            </a:pPr>
            <a:r>
              <a:rPr dirty="0"/>
              <a:t>Allows</a:t>
            </a:r>
            <a:r>
              <a:rPr spc="-40" dirty="0"/>
              <a:t> </a:t>
            </a:r>
            <a:r>
              <a:rPr spc="-10" dirty="0"/>
              <a:t>different</a:t>
            </a:r>
            <a:r>
              <a:rPr spc="-40" dirty="0"/>
              <a:t> </a:t>
            </a:r>
            <a:r>
              <a:rPr spc="-10" dirty="0"/>
              <a:t>operations</a:t>
            </a:r>
            <a:r>
              <a:rPr spc="-50" dirty="0"/>
              <a:t> </a:t>
            </a:r>
            <a:r>
              <a:rPr dirty="0"/>
              <a:t>according</a:t>
            </a:r>
            <a:r>
              <a:rPr spc="-8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condition.</a:t>
            </a:r>
          </a:p>
          <a:p>
            <a:pPr marL="198755" indent="-186055">
              <a:lnSpc>
                <a:spcPts val="2240"/>
              </a:lnSpc>
              <a:spcBef>
                <a:spcPts val="695"/>
              </a:spcBef>
              <a:buFont typeface="Arial"/>
              <a:buChar char="•"/>
              <a:tabLst>
                <a:tab pos="198755" algn="l"/>
              </a:tabLst>
            </a:pPr>
            <a:r>
              <a:rPr dirty="0"/>
              <a:t>Simple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20" dirty="0"/>
              <a:t>use: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6434" y="5676413"/>
            <a:ext cx="8384540" cy="55899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98120" marR="5080" indent="-186055">
              <a:lnSpc>
                <a:spcPts val="2020"/>
              </a:lnSpc>
              <a:spcBef>
                <a:spcPts val="725"/>
              </a:spcBef>
              <a:buFont typeface="Arial"/>
              <a:buChar char="•"/>
              <a:tabLst>
                <a:tab pos="19812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there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than</a:t>
            </a:r>
            <a:r>
              <a:rPr sz="2100" spc="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statement</a:t>
            </a:r>
            <a:r>
              <a:rPr sz="2100" spc="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region,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mandatory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use </a:t>
            </a:r>
            <a:r>
              <a:rPr sz="2100" dirty="0">
                <a:latin typeface="Calibri"/>
                <a:cs typeface="Calibri"/>
              </a:rPr>
              <a:t>Curly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Brackets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({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})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program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block.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8753" y="3500259"/>
            <a:ext cx="30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i="1" spc="-2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2050" name="Picture 2" descr="if else if statements in C">
            <a:extLst>
              <a:ext uri="{FF2B5EF4-FFF2-40B4-BE49-F238E27FC236}">
                <a16:creationId xmlns:a16="http://schemas.microsoft.com/office/drawing/2014/main" id="{DF55AA8F-7F29-DAE9-BE16-88346D96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" t="3164" r="11080" b="7077"/>
          <a:stretch>
            <a:fillRect/>
          </a:stretch>
        </p:blipFill>
        <p:spPr bwMode="auto">
          <a:xfrm>
            <a:off x="6518357" y="2306483"/>
            <a:ext cx="3502335" cy="314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 if else Statement - GeeksforGeeks">
            <a:extLst>
              <a:ext uri="{FF2B5EF4-FFF2-40B4-BE49-F238E27FC236}">
                <a16:creationId xmlns:a16="http://schemas.microsoft.com/office/drawing/2014/main" id="{817F2870-DB9B-D7F7-4D8D-F765713A3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06" y="2576778"/>
            <a:ext cx="4035879" cy="260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BF38-CC3F-55DC-0DA3-38CE6A48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72360"/>
            <a:ext cx="10890929" cy="1097280"/>
          </a:xfrm>
        </p:spPr>
        <p:txBody>
          <a:bodyPr/>
          <a:lstStyle/>
          <a:p>
            <a:r>
              <a:rPr lang="en-GB" dirty="0"/>
              <a:t>IF Flow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73F50-D88E-0435-6CE1-725DC3395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flowchart of if-else statement in C">
            <a:extLst>
              <a:ext uri="{FF2B5EF4-FFF2-40B4-BE49-F238E27FC236}">
                <a16:creationId xmlns:a16="http://schemas.microsoft.com/office/drawing/2014/main" id="{03ECEA91-F7C8-A9B3-8685-71E7F5D2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783" y="1140120"/>
            <a:ext cx="5359073" cy="486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4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10F6-447E-9CE5-E782-2DA53372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76428"/>
            <a:ext cx="10890929" cy="1097280"/>
          </a:xfrm>
        </p:spPr>
        <p:txBody>
          <a:bodyPr/>
          <a:lstStyle/>
          <a:p>
            <a:r>
              <a:rPr lang="en-GB" dirty="0"/>
              <a:t>Example program for  IF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F91AB-CAAC-BC79-DDE3-9CE5C803D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1" y="1662244"/>
            <a:ext cx="6033177" cy="4210655"/>
          </a:xfrm>
          <a:prstGeom prst="rect">
            <a:avLst/>
          </a:prstGeom>
        </p:spPr>
      </p:pic>
      <p:pic>
        <p:nvPicPr>
          <p:cNvPr id="8" name="Picture 2" descr="if else if statements in C">
            <a:extLst>
              <a:ext uri="{FF2B5EF4-FFF2-40B4-BE49-F238E27FC236}">
                <a16:creationId xmlns:a16="http://schemas.microsoft.com/office/drawing/2014/main" id="{9629A3E2-2C5C-9181-3465-62E02BAF9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" t="3164" r="11080" b="7077"/>
          <a:stretch>
            <a:fillRect/>
          </a:stretch>
        </p:blipFill>
        <p:spPr bwMode="auto">
          <a:xfrm>
            <a:off x="7032418" y="1915727"/>
            <a:ext cx="3502335" cy="314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BF459F-78BE-CB74-7053-C5E3377F5E72}"/>
              </a:ext>
            </a:extLst>
          </p:cNvPr>
          <p:cNvSpPr txBox="1"/>
          <p:nvPr/>
        </p:nvSpPr>
        <p:spPr>
          <a:xfrm>
            <a:off x="7362334" y="5448693"/>
            <a:ext cx="4110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Given else if statement, Now try to  print if number is exactly zero.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08C97-78AB-EE18-61C6-0F108CB89D18}"/>
              </a:ext>
            </a:extLst>
          </p:cNvPr>
          <p:cNvSpPr txBox="1"/>
          <p:nvPr/>
        </p:nvSpPr>
        <p:spPr>
          <a:xfrm>
            <a:off x="7400041" y="1630837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Work on your 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777EF-6484-FFA0-716B-B0A541212153}"/>
              </a:ext>
            </a:extLst>
          </p:cNvPr>
          <p:cNvSpPr/>
          <p:nvPr/>
        </p:nvSpPr>
        <p:spPr>
          <a:xfrm>
            <a:off x="6495068" y="1310326"/>
            <a:ext cx="5392132" cy="5175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14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92606" y="259776"/>
            <a:ext cx="7738011" cy="653511"/>
          </a:xfrm>
          <a:prstGeom prst="rect">
            <a:avLst/>
          </a:prstGeom>
        </p:spPr>
        <p:txBody>
          <a:bodyPr vert="horz" wrap="square" lIns="0" tIns="106171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413" y="1803598"/>
            <a:ext cx="6929989" cy="46568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07844" y="1228850"/>
            <a:ext cx="1032521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Write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C#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program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largest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among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are </a:t>
            </a:r>
            <a:r>
              <a:rPr spc="-10" dirty="0">
                <a:latin typeface="Calibri"/>
                <a:cs typeface="Calibri"/>
              </a:rPr>
              <a:t>entered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through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keyboard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inputs.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984CB7-5030-CCC4-FCF9-52BA9C199C61}"/>
              </a:ext>
            </a:extLst>
          </p:cNvPr>
          <p:cNvSpPr/>
          <p:nvPr/>
        </p:nvSpPr>
        <p:spPr>
          <a:xfrm>
            <a:off x="3987538" y="2271860"/>
            <a:ext cx="5222450" cy="4062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384093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4279" y="1664335"/>
            <a:ext cx="33153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Write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C#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program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check </a:t>
            </a:r>
            <a:r>
              <a:rPr b="1" dirty="0">
                <a:latin typeface="Calibri"/>
                <a:cs typeface="Calibri"/>
              </a:rPr>
              <a:t>whether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 given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number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even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or </a:t>
            </a:r>
            <a:r>
              <a:rPr b="1" spc="-20" dirty="0">
                <a:latin typeface="Calibri"/>
                <a:cs typeface="Calibri"/>
              </a:rPr>
              <a:t>odd.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2160"/>
              </a:spcBef>
            </a:pPr>
            <a:r>
              <a:rPr b="1" dirty="0">
                <a:latin typeface="Calibri"/>
                <a:cs typeface="Calibri"/>
              </a:rPr>
              <a:t>Expected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screen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has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shown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below: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816" y="3496056"/>
            <a:ext cx="3561588" cy="11551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4604" y="1920239"/>
            <a:ext cx="4883821" cy="3403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413938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8735" y="2206752"/>
            <a:ext cx="9895840" cy="3689985"/>
            <a:chOff x="5735" y="2206751"/>
            <a:chExt cx="9895840" cy="36899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5" y="2225039"/>
              <a:ext cx="4450593" cy="34229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4651" y="2546800"/>
              <a:ext cx="5446776" cy="29537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95143" y="2206751"/>
              <a:ext cx="4969510" cy="3689985"/>
            </a:xfrm>
            <a:custGeom>
              <a:avLst/>
              <a:gdLst/>
              <a:ahLst/>
              <a:cxnLst/>
              <a:rect l="l" t="t" r="r" b="b"/>
              <a:pathLst>
                <a:path w="4969509" h="3689985">
                  <a:moveTo>
                    <a:pt x="38100" y="3441966"/>
                  </a:moveTo>
                  <a:lnTo>
                    <a:pt x="0" y="3441966"/>
                  </a:lnTo>
                  <a:lnTo>
                    <a:pt x="0" y="3670554"/>
                  </a:lnTo>
                  <a:lnTo>
                    <a:pt x="1494" y="3677966"/>
                  </a:lnTo>
                  <a:lnTo>
                    <a:pt x="5572" y="3684022"/>
                  </a:lnTo>
                  <a:lnTo>
                    <a:pt x="11626" y="3688106"/>
                  </a:lnTo>
                  <a:lnTo>
                    <a:pt x="19050" y="3689604"/>
                  </a:lnTo>
                  <a:lnTo>
                    <a:pt x="2199513" y="3689604"/>
                  </a:lnTo>
                  <a:lnTo>
                    <a:pt x="2206936" y="3688106"/>
                  </a:lnTo>
                  <a:lnTo>
                    <a:pt x="2212990" y="3684022"/>
                  </a:lnTo>
                  <a:lnTo>
                    <a:pt x="2217068" y="3677966"/>
                  </a:lnTo>
                  <a:lnTo>
                    <a:pt x="2218563" y="3670554"/>
                  </a:lnTo>
                  <a:lnTo>
                    <a:pt x="38100" y="3670554"/>
                  </a:lnTo>
                  <a:lnTo>
                    <a:pt x="19050" y="3651504"/>
                  </a:lnTo>
                  <a:lnTo>
                    <a:pt x="38100" y="3651504"/>
                  </a:lnTo>
                  <a:lnTo>
                    <a:pt x="38100" y="3441966"/>
                  </a:lnTo>
                  <a:close/>
                </a:path>
                <a:path w="4969509" h="3689985">
                  <a:moveTo>
                    <a:pt x="38100" y="3651504"/>
                  </a:moveTo>
                  <a:lnTo>
                    <a:pt x="19050" y="3651504"/>
                  </a:lnTo>
                  <a:lnTo>
                    <a:pt x="38100" y="3670554"/>
                  </a:lnTo>
                  <a:lnTo>
                    <a:pt x="38100" y="3651504"/>
                  </a:lnTo>
                  <a:close/>
                </a:path>
                <a:path w="4969509" h="3689985">
                  <a:moveTo>
                    <a:pt x="2180463" y="3651504"/>
                  </a:moveTo>
                  <a:lnTo>
                    <a:pt x="38100" y="3651504"/>
                  </a:lnTo>
                  <a:lnTo>
                    <a:pt x="38100" y="3670554"/>
                  </a:lnTo>
                  <a:lnTo>
                    <a:pt x="2180463" y="3670554"/>
                  </a:lnTo>
                  <a:lnTo>
                    <a:pt x="2180463" y="3651504"/>
                  </a:lnTo>
                  <a:close/>
                </a:path>
                <a:path w="4969509" h="3689985">
                  <a:moveTo>
                    <a:pt x="4883404" y="0"/>
                  </a:moveTo>
                  <a:lnTo>
                    <a:pt x="2199513" y="0"/>
                  </a:lnTo>
                  <a:lnTo>
                    <a:pt x="2192089" y="1494"/>
                  </a:lnTo>
                  <a:lnTo>
                    <a:pt x="2186035" y="5572"/>
                  </a:lnTo>
                  <a:lnTo>
                    <a:pt x="2181957" y="11626"/>
                  </a:lnTo>
                  <a:lnTo>
                    <a:pt x="2180463" y="19050"/>
                  </a:lnTo>
                  <a:lnTo>
                    <a:pt x="2180463" y="3670554"/>
                  </a:lnTo>
                  <a:lnTo>
                    <a:pt x="2199513" y="3651504"/>
                  </a:lnTo>
                  <a:lnTo>
                    <a:pt x="2218563" y="3651504"/>
                  </a:lnTo>
                  <a:lnTo>
                    <a:pt x="2218563" y="38100"/>
                  </a:lnTo>
                  <a:lnTo>
                    <a:pt x="2199513" y="38100"/>
                  </a:lnTo>
                  <a:lnTo>
                    <a:pt x="2218563" y="19050"/>
                  </a:lnTo>
                  <a:lnTo>
                    <a:pt x="4902454" y="19050"/>
                  </a:lnTo>
                  <a:lnTo>
                    <a:pt x="4900959" y="11626"/>
                  </a:lnTo>
                  <a:lnTo>
                    <a:pt x="4896881" y="5572"/>
                  </a:lnTo>
                  <a:lnTo>
                    <a:pt x="4890827" y="1494"/>
                  </a:lnTo>
                  <a:lnTo>
                    <a:pt x="4883404" y="0"/>
                  </a:lnTo>
                  <a:close/>
                </a:path>
                <a:path w="4969509" h="3689985">
                  <a:moveTo>
                    <a:pt x="2218563" y="3651504"/>
                  </a:moveTo>
                  <a:lnTo>
                    <a:pt x="2199513" y="3651504"/>
                  </a:lnTo>
                  <a:lnTo>
                    <a:pt x="2180463" y="3670554"/>
                  </a:lnTo>
                  <a:lnTo>
                    <a:pt x="2218563" y="3670554"/>
                  </a:lnTo>
                  <a:lnTo>
                    <a:pt x="2218563" y="3651504"/>
                  </a:lnTo>
                  <a:close/>
                </a:path>
                <a:path w="4969509" h="3689985">
                  <a:moveTo>
                    <a:pt x="4814325" y="76727"/>
                  </a:moveTo>
                  <a:lnTo>
                    <a:pt x="4807204" y="79121"/>
                  </a:lnTo>
                  <a:lnTo>
                    <a:pt x="4801524" y="84173"/>
                  </a:lnTo>
                  <a:lnTo>
                    <a:pt x="4798345" y="90773"/>
                  </a:lnTo>
                  <a:lnTo>
                    <a:pt x="4797881" y="98087"/>
                  </a:lnTo>
                  <a:lnTo>
                    <a:pt x="4800346" y="105283"/>
                  </a:lnTo>
                  <a:lnTo>
                    <a:pt x="4883404" y="247776"/>
                  </a:lnTo>
                  <a:lnTo>
                    <a:pt x="4905497" y="209931"/>
                  </a:lnTo>
                  <a:lnTo>
                    <a:pt x="4864354" y="209931"/>
                  </a:lnTo>
                  <a:lnTo>
                    <a:pt x="4864354" y="139319"/>
                  </a:lnTo>
                  <a:lnTo>
                    <a:pt x="4833238" y="85978"/>
                  </a:lnTo>
                  <a:lnTo>
                    <a:pt x="4828188" y="80371"/>
                  </a:lnTo>
                  <a:lnTo>
                    <a:pt x="4821602" y="77216"/>
                  </a:lnTo>
                  <a:lnTo>
                    <a:pt x="4814325" y="76727"/>
                  </a:lnTo>
                  <a:close/>
                </a:path>
                <a:path w="4969509" h="3689985">
                  <a:moveTo>
                    <a:pt x="4864481" y="139536"/>
                  </a:moveTo>
                  <a:lnTo>
                    <a:pt x="4864354" y="209931"/>
                  </a:lnTo>
                  <a:lnTo>
                    <a:pt x="4902454" y="209931"/>
                  </a:lnTo>
                  <a:lnTo>
                    <a:pt x="4902454" y="200278"/>
                  </a:lnTo>
                  <a:lnTo>
                    <a:pt x="4867021" y="200278"/>
                  </a:lnTo>
                  <a:lnTo>
                    <a:pt x="4883467" y="172085"/>
                  </a:lnTo>
                  <a:lnTo>
                    <a:pt x="4864481" y="139536"/>
                  </a:lnTo>
                  <a:close/>
                </a:path>
                <a:path w="4969509" h="3689985">
                  <a:moveTo>
                    <a:pt x="4952537" y="76727"/>
                  </a:moveTo>
                  <a:lnTo>
                    <a:pt x="4902581" y="139319"/>
                  </a:lnTo>
                  <a:lnTo>
                    <a:pt x="4902454" y="209931"/>
                  </a:lnTo>
                  <a:lnTo>
                    <a:pt x="4905497" y="209931"/>
                  </a:lnTo>
                  <a:lnTo>
                    <a:pt x="4966588" y="105283"/>
                  </a:lnTo>
                  <a:lnTo>
                    <a:pt x="4969035" y="98087"/>
                  </a:lnTo>
                  <a:lnTo>
                    <a:pt x="4968541" y="90773"/>
                  </a:lnTo>
                  <a:lnTo>
                    <a:pt x="4965356" y="84173"/>
                  </a:lnTo>
                  <a:lnTo>
                    <a:pt x="4959731" y="79121"/>
                  </a:lnTo>
                  <a:lnTo>
                    <a:pt x="4952537" y="76727"/>
                  </a:lnTo>
                  <a:close/>
                </a:path>
                <a:path w="4969509" h="3689985">
                  <a:moveTo>
                    <a:pt x="4883467" y="172085"/>
                  </a:moveTo>
                  <a:lnTo>
                    <a:pt x="4867021" y="200278"/>
                  </a:lnTo>
                  <a:lnTo>
                    <a:pt x="4899913" y="200278"/>
                  </a:lnTo>
                  <a:lnTo>
                    <a:pt x="4883467" y="172085"/>
                  </a:lnTo>
                  <a:close/>
                </a:path>
                <a:path w="4969509" h="3689985">
                  <a:moveTo>
                    <a:pt x="4902454" y="139536"/>
                  </a:moveTo>
                  <a:lnTo>
                    <a:pt x="4883467" y="172085"/>
                  </a:lnTo>
                  <a:lnTo>
                    <a:pt x="4899913" y="200278"/>
                  </a:lnTo>
                  <a:lnTo>
                    <a:pt x="4902454" y="200278"/>
                  </a:lnTo>
                  <a:lnTo>
                    <a:pt x="4902454" y="139536"/>
                  </a:lnTo>
                  <a:close/>
                </a:path>
                <a:path w="4969509" h="3689985">
                  <a:moveTo>
                    <a:pt x="4864354" y="19050"/>
                  </a:moveTo>
                  <a:lnTo>
                    <a:pt x="4864481" y="139536"/>
                  </a:lnTo>
                  <a:lnTo>
                    <a:pt x="4883467" y="172085"/>
                  </a:lnTo>
                  <a:lnTo>
                    <a:pt x="4902454" y="139536"/>
                  </a:lnTo>
                  <a:lnTo>
                    <a:pt x="4902454" y="38100"/>
                  </a:lnTo>
                  <a:lnTo>
                    <a:pt x="4883404" y="38100"/>
                  </a:lnTo>
                  <a:lnTo>
                    <a:pt x="4864354" y="19050"/>
                  </a:lnTo>
                  <a:close/>
                </a:path>
                <a:path w="4969509" h="3689985">
                  <a:moveTo>
                    <a:pt x="2218563" y="19050"/>
                  </a:moveTo>
                  <a:lnTo>
                    <a:pt x="2199513" y="38100"/>
                  </a:lnTo>
                  <a:lnTo>
                    <a:pt x="2218563" y="38100"/>
                  </a:lnTo>
                  <a:lnTo>
                    <a:pt x="2218563" y="19050"/>
                  </a:lnTo>
                  <a:close/>
                </a:path>
                <a:path w="4969509" h="3689985">
                  <a:moveTo>
                    <a:pt x="4864354" y="19050"/>
                  </a:moveTo>
                  <a:lnTo>
                    <a:pt x="2218563" y="19050"/>
                  </a:lnTo>
                  <a:lnTo>
                    <a:pt x="2218563" y="38100"/>
                  </a:lnTo>
                  <a:lnTo>
                    <a:pt x="4864354" y="38100"/>
                  </a:lnTo>
                  <a:lnTo>
                    <a:pt x="4864354" y="19050"/>
                  </a:lnTo>
                  <a:close/>
                </a:path>
                <a:path w="4969509" h="3689985">
                  <a:moveTo>
                    <a:pt x="4902454" y="19050"/>
                  </a:moveTo>
                  <a:lnTo>
                    <a:pt x="4864354" y="19050"/>
                  </a:lnTo>
                  <a:lnTo>
                    <a:pt x="4883404" y="38100"/>
                  </a:lnTo>
                  <a:lnTo>
                    <a:pt x="4902454" y="38100"/>
                  </a:lnTo>
                  <a:lnTo>
                    <a:pt x="4902454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17461" y="1764538"/>
            <a:ext cx="2568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CONTINUE</a:t>
            </a:r>
            <a:r>
              <a:rPr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WRITE</a:t>
            </a:r>
            <a:r>
              <a:rPr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00AF50"/>
                </a:solidFill>
                <a:latin typeface="Calibri"/>
                <a:cs typeface="Calibri"/>
              </a:rPr>
              <a:t>HERE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8663" y="1651253"/>
            <a:ext cx="392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Writing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simple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calculator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program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C#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387602"/>
            <a:ext cx="10890929" cy="109728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2969" y="1670380"/>
            <a:ext cx="37725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7485" indent="-184785">
              <a:spcBef>
                <a:spcPts val="130"/>
              </a:spcBef>
              <a:buFont typeface="Arial"/>
              <a:buChar char="•"/>
              <a:tabLst>
                <a:tab pos="197485" algn="l"/>
                <a:tab pos="960119" algn="l"/>
                <a:tab pos="1372235" algn="l"/>
                <a:tab pos="2499995" algn="l"/>
              </a:tabLst>
            </a:pPr>
            <a:r>
              <a:rPr sz="2250" spc="-20" dirty="0">
                <a:latin typeface="Calibri"/>
                <a:cs typeface="Calibri"/>
              </a:rPr>
              <a:t>Used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perform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operations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8896" y="1981961"/>
            <a:ext cx="358775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40080" algn="l"/>
                <a:tab pos="1064260" algn="l"/>
                <a:tab pos="1635760" algn="l"/>
                <a:tab pos="2832100" algn="l"/>
              </a:tabLst>
            </a:pPr>
            <a:r>
              <a:rPr sz="2250" spc="-25" dirty="0">
                <a:latin typeface="Calibri"/>
                <a:cs typeface="Calibri"/>
              </a:rPr>
              <a:t>due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the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different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values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2968" y="2177034"/>
            <a:ext cx="3771900" cy="126809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8120">
              <a:spcBef>
                <a:spcPts val="1055"/>
              </a:spcBef>
            </a:pPr>
            <a:r>
              <a:rPr sz="2250" dirty="0">
                <a:latin typeface="Calibri"/>
                <a:cs typeface="Calibri"/>
              </a:rPr>
              <a:t>that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expression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take.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lnSpc>
                <a:spcPts val="2580"/>
              </a:lnSpc>
              <a:spcBef>
                <a:spcPts val="96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It</a:t>
            </a:r>
            <a:r>
              <a:rPr sz="2250" spc="1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1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also</a:t>
            </a:r>
            <a:r>
              <a:rPr sz="2250" spc="1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make</a:t>
            </a:r>
            <a:r>
              <a:rPr sz="2250" spc="14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14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statements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80"/>
              </a:lnSpc>
            </a:pPr>
            <a:r>
              <a:rPr sz="2250" spc="-10" dirty="0">
                <a:latin typeface="Calibri"/>
                <a:cs typeface="Calibri"/>
              </a:rPr>
              <a:t>simpler.</a:t>
            </a:r>
            <a:endParaRPr sz="2250" dirty="0">
              <a:latin typeface="Calibri"/>
              <a:cs typeface="Calibri"/>
            </a:endParaRPr>
          </a:p>
        </p:txBody>
      </p:sp>
      <p:pic>
        <p:nvPicPr>
          <p:cNvPr id="4098" name="Picture 2" descr="Switch Statement in C - GeeksforGeeks">
            <a:extLst>
              <a:ext uri="{FF2B5EF4-FFF2-40B4-BE49-F238E27FC236}">
                <a16:creationId xmlns:a16="http://schemas.microsoft.com/office/drawing/2014/main" id="{E8FCDF6D-BE4F-9E70-2592-6103EB97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747" y="735290"/>
            <a:ext cx="4330799" cy="511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itch Statements in C# with Examples - Dot Net Tutorials">
            <a:extLst>
              <a:ext uri="{FF2B5EF4-FFF2-40B4-BE49-F238E27FC236}">
                <a16:creationId xmlns:a16="http://schemas.microsoft.com/office/drawing/2014/main" id="{B2DABA66-0807-7C26-3BB5-813C49002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48" y="3578403"/>
            <a:ext cx="3543300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705" y="389551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7740" y="1379822"/>
            <a:ext cx="10351876" cy="33637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7485" indent="-184785">
              <a:lnSpc>
                <a:spcPts val="2575"/>
              </a:lnSpc>
              <a:spcBef>
                <a:spcPts val="130"/>
              </a:spcBef>
              <a:buFont typeface="Arial"/>
              <a:buChar char="•"/>
              <a:tabLst>
                <a:tab pos="197485" algn="l"/>
              </a:tabLst>
            </a:pPr>
            <a:r>
              <a:rPr sz="2250" spc="-20" dirty="0">
                <a:latin typeface="Calibri"/>
                <a:cs typeface="Calibri"/>
              </a:rPr>
              <a:t>You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must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terminate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each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case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with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skip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(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break,</a:t>
            </a:r>
            <a:r>
              <a:rPr sz="225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50" spc="-10" dirty="0" err="1">
                <a:solidFill>
                  <a:srgbClr val="FF0000"/>
                </a:solidFill>
                <a:latin typeface="Calibri"/>
                <a:cs typeface="Calibri"/>
              </a:rPr>
              <a:t>goto</a:t>
            </a:r>
            <a:r>
              <a:rPr sz="2250" spc="-1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lang="tr-TR" sz="2250" spc="-10" dirty="0"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return,</a:t>
            </a:r>
            <a:r>
              <a:rPr sz="22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continue</a:t>
            </a:r>
            <a:r>
              <a:rPr sz="2250" dirty="0">
                <a:latin typeface="Calibri"/>
                <a:cs typeface="Calibri"/>
              </a:rPr>
              <a:t>)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statement.</a:t>
            </a:r>
            <a:endParaRPr sz="2250" dirty="0">
              <a:latin typeface="Calibri"/>
              <a:cs typeface="Calibri"/>
            </a:endParaRPr>
          </a:p>
          <a:p>
            <a:pPr marL="198120" marR="5080" indent="-186055">
              <a:lnSpc>
                <a:spcPts val="2460"/>
              </a:lnSpc>
              <a:spcBef>
                <a:spcPts val="124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The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6FC0"/>
                </a:solidFill>
                <a:latin typeface="Calibri"/>
                <a:cs typeface="Calibri"/>
              </a:rPr>
              <a:t>Continue</a:t>
            </a:r>
            <a:r>
              <a:rPr sz="225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used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the </a:t>
            </a:r>
            <a:r>
              <a:rPr sz="2250" dirty="0">
                <a:latin typeface="Calibri"/>
                <a:cs typeface="Calibri"/>
              </a:rPr>
              <a:t>body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loop.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2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A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skip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not required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no 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given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case</a:t>
            </a:r>
            <a:endParaRPr sz="2250" dirty="0">
              <a:latin typeface="Calibri"/>
              <a:cs typeface="Calibri"/>
            </a:endParaRPr>
          </a:p>
          <a:p>
            <a:pPr marL="641350" lvl="1" indent="-257175">
              <a:spcBef>
                <a:spcPts val="98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//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</a:t>
            </a:r>
            <a:endParaRPr sz="2000" dirty="0">
              <a:latin typeface="Calibri"/>
              <a:cs typeface="Calibri"/>
            </a:endParaRPr>
          </a:p>
          <a:p>
            <a:pPr marL="641350" lvl="1" indent="-257175">
              <a:spcBef>
                <a:spcPts val="96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3:</a:t>
            </a:r>
            <a:endParaRPr sz="2000" dirty="0">
              <a:latin typeface="Calibri"/>
              <a:cs typeface="Calibri"/>
            </a:endParaRPr>
          </a:p>
          <a:p>
            <a:pPr marL="640715" lvl="1" indent="-256540">
              <a:spcBef>
                <a:spcPts val="960"/>
              </a:spcBef>
              <a:buFont typeface="Wingdings"/>
              <a:buChar char=""/>
              <a:tabLst>
                <a:tab pos="640715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expression….;break,;</a:t>
            </a:r>
            <a:endParaRPr sz="2000" dirty="0">
              <a:latin typeface="Calibri"/>
              <a:cs typeface="Calibri"/>
            </a:endParaRPr>
          </a:p>
          <a:p>
            <a:pPr marL="641350" lvl="1" indent="-257175">
              <a:spcBef>
                <a:spcPts val="96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expression…;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4;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705" y="381787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460" y="1271310"/>
            <a:ext cx="8201025" cy="3968394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spcBef>
                <a:spcPts val="1045"/>
              </a:spcBef>
            </a:pPr>
            <a:r>
              <a:rPr sz="2250" dirty="0">
                <a:latin typeface="Calibri"/>
                <a:cs typeface="Calibri"/>
              </a:rPr>
              <a:t>There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 some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rules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aware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when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using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statement: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5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after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word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must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constants.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60"/>
              </a:spcBef>
              <a:buFont typeface="Arial"/>
              <a:buChar char="•"/>
              <a:tabLst>
                <a:tab pos="198120" algn="l"/>
              </a:tabLst>
            </a:pP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expressions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integer,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character,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or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string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constants.</a:t>
            </a:r>
            <a:endParaRPr sz="2250" dirty="0">
              <a:latin typeface="Calibri"/>
              <a:cs typeface="Calibri"/>
            </a:endParaRPr>
          </a:p>
          <a:p>
            <a:pPr marL="197485" indent="-184785">
              <a:spcBef>
                <a:spcPts val="960"/>
              </a:spcBef>
              <a:buFont typeface="Arial"/>
              <a:buChar char="•"/>
              <a:tabLst>
                <a:tab pos="197485" algn="l"/>
              </a:tabLst>
            </a:pPr>
            <a:r>
              <a:rPr sz="2250" b="1" dirty="0">
                <a:solidFill>
                  <a:srgbClr val="006FC0"/>
                </a:solidFill>
                <a:latin typeface="Calibri"/>
                <a:cs typeface="Calibri"/>
              </a:rPr>
              <a:t>‘‘default’’</a:t>
            </a:r>
            <a:r>
              <a:rPr sz="225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and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written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any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order.</a:t>
            </a:r>
            <a:endParaRPr sz="2250" dirty="0">
              <a:latin typeface="Calibri"/>
              <a:cs typeface="Calibri"/>
            </a:endParaRPr>
          </a:p>
          <a:p>
            <a:pPr marL="198120" marR="5080" indent="-186055">
              <a:lnSpc>
                <a:spcPts val="2450"/>
              </a:lnSpc>
              <a:spcBef>
                <a:spcPts val="125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There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cannot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 more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one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same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same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block.</a:t>
            </a:r>
            <a:endParaRPr sz="2250" dirty="0">
              <a:latin typeface="Calibri"/>
              <a:cs typeface="Calibri"/>
            </a:endParaRPr>
          </a:p>
          <a:p>
            <a:pPr marL="197485" indent="-184785">
              <a:spcBef>
                <a:spcPts val="915"/>
              </a:spcBef>
              <a:buFont typeface="Arial"/>
              <a:buChar char="•"/>
              <a:tabLst>
                <a:tab pos="197485" algn="l"/>
              </a:tabLst>
            </a:pP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250" b="1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25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250" b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mandatory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06FC0"/>
                </a:solidFill>
                <a:latin typeface="Calibri"/>
                <a:cs typeface="Calibri"/>
              </a:rPr>
              <a:t>‘‘default’’</a:t>
            </a:r>
            <a:r>
              <a:rPr sz="2250" spc="-10" dirty="0">
                <a:latin typeface="Calibri"/>
                <a:cs typeface="Calibri"/>
              </a:rPr>
              <a:t>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lnSpc>
                <a:spcPts val="2580"/>
              </a:lnSpc>
              <a:spcBef>
                <a:spcPts val="965"/>
              </a:spcBef>
              <a:buFont typeface="Arial"/>
              <a:buChar char="•"/>
              <a:tabLst>
                <a:tab pos="198120" algn="l"/>
              </a:tabLst>
            </a:pPr>
            <a:r>
              <a:rPr sz="2250" spc="-50" dirty="0">
                <a:latin typeface="Calibri"/>
                <a:cs typeface="Calibri"/>
              </a:rPr>
              <a:t>To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redirect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flow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from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one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5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another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80"/>
              </a:lnSpc>
            </a:pPr>
            <a:r>
              <a:rPr sz="2250" dirty="0">
                <a:latin typeface="Calibri"/>
                <a:cs typeface="Calibri"/>
              </a:rPr>
              <a:t>statement,</a:t>
            </a:r>
            <a:r>
              <a:rPr sz="2250" spc="-8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BE9000"/>
                </a:solidFill>
                <a:latin typeface="Calibri"/>
                <a:cs typeface="Calibri"/>
              </a:rPr>
              <a:t>‘‘goto’’</a:t>
            </a:r>
            <a:r>
              <a:rPr sz="2250" b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keyword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used.</a:t>
            </a:r>
            <a:endParaRPr sz="2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278" y="422166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360" y="1385965"/>
            <a:ext cx="5251704" cy="45232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7097" y="3259000"/>
            <a:ext cx="5085587" cy="242925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609924" y="3012074"/>
            <a:ext cx="4356735" cy="2986405"/>
          </a:xfrm>
          <a:custGeom>
            <a:avLst/>
            <a:gdLst/>
            <a:ahLst/>
            <a:cxnLst/>
            <a:rect l="l" t="t" r="r" b="b"/>
            <a:pathLst>
              <a:path w="4356734" h="2986404">
                <a:moveTo>
                  <a:pt x="38100" y="2897098"/>
                </a:moveTo>
                <a:lnTo>
                  <a:pt x="0" y="2897098"/>
                </a:lnTo>
                <a:lnTo>
                  <a:pt x="0" y="2986112"/>
                </a:lnTo>
                <a:lnTo>
                  <a:pt x="1351788" y="2986112"/>
                </a:lnTo>
                <a:lnTo>
                  <a:pt x="1351788" y="2967062"/>
                </a:lnTo>
                <a:lnTo>
                  <a:pt x="38100" y="2967062"/>
                </a:lnTo>
                <a:lnTo>
                  <a:pt x="19050" y="2948012"/>
                </a:lnTo>
                <a:lnTo>
                  <a:pt x="38100" y="2948012"/>
                </a:lnTo>
                <a:lnTo>
                  <a:pt x="38100" y="2897098"/>
                </a:lnTo>
                <a:close/>
              </a:path>
              <a:path w="4356734" h="2986404">
                <a:moveTo>
                  <a:pt x="38100" y="2948012"/>
                </a:moveTo>
                <a:lnTo>
                  <a:pt x="19050" y="2948012"/>
                </a:lnTo>
                <a:lnTo>
                  <a:pt x="38100" y="2967062"/>
                </a:lnTo>
                <a:lnTo>
                  <a:pt x="38100" y="2948012"/>
                </a:lnTo>
                <a:close/>
              </a:path>
              <a:path w="4356734" h="2986404">
                <a:moveTo>
                  <a:pt x="1313688" y="2948012"/>
                </a:moveTo>
                <a:lnTo>
                  <a:pt x="38100" y="2948012"/>
                </a:lnTo>
                <a:lnTo>
                  <a:pt x="38100" y="2967062"/>
                </a:lnTo>
                <a:lnTo>
                  <a:pt x="1313688" y="2967062"/>
                </a:lnTo>
                <a:lnTo>
                  <a:pt x="1313688" y="2948012"/>
                </a:lnTo>
                <a:close/>
              </a:path>
              <a:path w="4356734" h="2986404">
                <a:moveTo>
                  <a:pt x="4318635" y="0"/>
                </a:moveTo>
                <a:lnTo>
                  <a:pt x="1313688" y="0"/>
                </a:lnTo>
                <a:lnTo>
                  <a:pt x="1313688" y="2967062"/>
                </a:lnTo>
                <a:lnTo>
                  <a:pt x="1332738" y="2948012"/>
                </a:lnTo>
                <a:lnTo>
                  <a:pt x="1351788" y="2948012"/>
                </a:lnTo>
                <a:lnTo>
                  <a:pt x="1351788" y="38100"/>
                </a:lnTo>
                <a:lnTo>
                  <a:pt x="1332738" y="38100"/>
                </a:lnTo>
                <a:lnTo>
                  <a:pt x="1351788" y="19050"/>
                </a:lnTo>
                <a:lnTo>
                  <a:pt x="4318635" y="19050"/>
                </a:lnTo>
                <a:lnTo>
                  <a:pt x="4318635" y="0"/>
                </a:lnTo>
                <a:close/>
              </a:path>
              <a:path w="4356734" h="2986404">
                <a:moveTo>
                  <a:pt x="1351788" y="2948012"/>
                </a:moveTo>
                <a:lnTo>
                  <a:pt x="1332738" y="2948012"/>
                </a:lnTo>
                <a:lnTo>
                  <a:pt x="1313688" y="2967062"/>
                </a:lnTo>
                <a:lnTo>
                  <a:pt x="1351788" y="2967062"/>
                </a:lnTo>
                <a:lnTo>
                  <a:pt x="1351788" y="2948012"/>
                </a:lnTo>
                <a:close/>
              </a:path>
              <a:path w="4356734" h="2986404">
                <a:moveTo>
                  <a:pt x="4280535" y="133350"/>
                </a:moveTo>
                <a:lnTo>
                  <a:pt x="4242435" y="133350"/>
                </a:lnTo>
                <a:lnTo>
                  <a:pt x="4299585" y="247650"/>
                </a:lnTo>
                <a:lnTo>
                  <a:pt x="4347210" y="152400"/>
                </a:lnTo>
                <a:lnTo>
                  <a:pt x="4280535" y="152400"/>
                </a:lnTo>
                <a:lnTo>
                  <a:pt x="4280535" y="133350"/>
                </a:lnTo>
                <a:close/>
              </a:path>
              <a:path w="4356734" h="2986404">
                <a:moveTo>
                  <a:pt x="4280535" y="19050"/>
                </a:moveTo>
                <a:lnTo>
                  <a:pt x="4280535" y="152400"/>
                </a:lnTo>
                <a:lnTo>
                  <a:pt x="4318635" y="152400"/>
                </a:lnTo>
                <a:lnTo>
                  <a:pt x="4318635" y="38100"/>
                </a:lnTo>
                <a:lnTo>
                  <a:pt x="4299585" y="38100"/>
                </a:lnTo>
                <a:lnTo>
                  <a:pt x="4280535" y="19050"/>
                </a:lnTo>
                <a:close/>
              </a:path>
              <a:path w="4356734" h="2986404">
                <a:moveTo>
                  <a:pt x="4356735" y="133350"/>
                </a:moveTo>
                <a:lnTo>
                  <a:pt x="4318635" y="133350"/>
                </a:lnTo>
                <a:lnTo>
                  <a:pt x="4318635" y="152400"/>
                </a:lnTo>
                <a:lnTo>
                  <a:pt x="4347210" y="152400"/>
                </a:lnTo>
                <a:lnTo>
                  <a:pt x="4356735" y="133350"/>
                </a:lnTo>
                <a:close/>
              </a:path>
              <a:path w="4356734" h="2986404">
                <a:moveTo>
                  <a:pt x="1351788" y="19050"/>
                </a:moveTo>
                <a:lnTo>
                  <a:pt x="1332738" y="38100"/>
                </a:lnTo>
                <a:lnTo>
                  <a:pt x="1351788" y="38100"/>
                </a:lnTo>
                <a:lnTo>
                  <a:pt x="1351788" y="19050"/>
                </a:lnTo>
                <a:close/>
              </a:path>
              <a:path w="4356734" h="2986404">
                <a:moveTo>
                  <a:pt x="4280535" y="19050"/>
                </a:moveTo>
                <a:lnTo>
                  <a:pt x="1351788" y="19050"/>
                </a:lnTo>
                <a:lnTo>
                  <a:pt x="1351788" y="38100"/>
                </a:lnTo>
                <a:lnTo>
                  <a:pt x="4280535" y="38100"/>
                </a:lnTo>
                <a:lnTo>
                  <a:pt x="4280535" y="19050"/>
                </a:lnTo>
                <a:close/>
              </a:path>
              <a:path w="4356734" h="2986404">
                <a:moveTo>
                  <a:pt x="4318635" y="19050"/>
                </a:moveTo>
                <a:lnTo>
                  <a:pt x="4280535" y="19050"/>
                </a:lnTo>
                <a:lnTo>
                  <a:pt x="4299585" y="38100"/>
                </a:lnTo>
                <a:lnTo>
                  <a:pt x="4318635" y="38100"/>
                </a:lnTo>
                <a:lnTo>
                  <a:pt x="4318635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978" y="397117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/>
          <p:nvPr/>
        </p:nvSpPr>
        <p:spPr>
          <a:xfrm>
            <a:off x="3768851" y="1615439"/>
            <a:ext cx="4909185" cy="4460875"/>
          </a:xfrm>
          <a:custGeom>
            <a:avLst/>
            <a:gdLst/>
            <a:ahLst/>
            <a:cxnLst/>
            <a:rect l="l" t="t" r="r" b="b"/>
            <a:pathLst>
              <a:path w="4909184" h="4460875">
                <a:moveTo>
                  <a:pt x="38100" y="4212602"/>
                </a:moveTo>
                <a:lnTo>
                  <a:pt x="0" y="4212602"/>
                </a:lnTo>
                <a:lnTo>
                  <a:pt x="0" y="4460278"/>
                </a:lnTo>
                <a:lnTo>
                  <a:pt x="2607691" y="4460278"/>
                </a:lnTo>
                <a:lnTo>
                  <a:pt x="2607691" y="4441228"/>
                </a:lnTo>
                <a:lnTo>
                  <a:pt x="38100" y="4441228"/>
                </a:lnTo>
                <a:lnTo>
                  <a:pt x="19050" y="4422178"/>
                </a:lnTo>
                <a:lnTo>
                  <a:pt x="38100" y="4422178"/>
                </a:lnTo>
                <a:lnTo>
                  <a:pt x="38100" y="4212602"/>
                </a:lnTo>
                <a:close/>
              </a:path>
              <a:path w="4909184" h="4460875">
                <a:moveTo>
                  <a:pt x="38100" y="4422178"/>
                </a:moveTo>
                <a:lnTo>
                  <a:pt x="19050" y="4422178"/>
                </a:lnTo>
                <a:lnTo>
                  <a:pt x="38100" y="4441228"/>
                </a:lnTo>
                <a:lnTo>
                  <a:pt x="38100" y="4422178"/>
                </a:lnTo>
                <a:close/>
              </a:path>
              <a:path w="4909184" h="4460875">
                <a:moveTo>
                  <a:pt x="2569591" y="4422178"/>
                </a:moveTo>
                <a:lnTo>
                  <a:pt x="38100" y="4422178"/>
                </a:lnTo>
                <a:lnTo>
                  <a:pt x="38100" y="4441228"/>
                </a:lnTo>
                <a:lnTo>
                  <a:pt x="2569591" y="4441228"/>
                </a:lnTo>
                <a:lnTo>
                  <a:pt x="2569591" y="4422178"/>
                </a:lnTo>
                <a:close/>
              </a:path>
              <a:path w="4909184" h="4460875">
                <a:moveTo>
                  <a:pt x="4870958" y="0"/>
                </a:moveTo>
                <a:lnTo>
                  <a:pt x="2569591" y="0"/>
                </a:lnTo>
                <a:lnTo>
                  <a:pt x="2569591" y="4441228"/>
                </a:lnTo>
                <a:lnTo>
                  <a:pt x="2588641" y="4422178"/>
                </a:lnTo>
                <a:lnTo>
                  <a:pt x="2607691" y="4422178"/>
                </a:lnTo>
                <a:lnTo>
                  <a:pt x="2607691" y="38100"/>
                </a:lnTo>
                <a:lnTo>
                  <a:pt x="2588641" y="38100"/>
                </a:lnTo>
                <a:lnTo>
                  <a:pt x="2607691" y="19050"/>
                </a:lnTo>
                <a:lnTo>
                  <a:pt x="4870958" y="19050"/>
                </a:lnTo>
                <a:lnTo>
                  <a:pt x="4870958" y="0"/>
                </a:lnTo>
                <a:close/>
              </a:path>
              <a:path w="4909184" h="4460875">
                <a:moveTo>
                  <a:pt x="2607691" y="4422178"/>
                </a:moveTo>
                <a:lnTo>
                  <a:pt x="2588641" y="4422178"/>
                </a:lnTo>
                <a:lnTo>
                  <a:pt x="2569591" y="4441228"/>
                </a:lnTo>
                <a:lnTo>
                  <a:pt x="2607691" y="4441228"/>
                </a:lnTo>
                <a:lnTo>
                  <a:pt x="2607691" y="4422178"/>
                </a:lnTo>
                <a:close/>
              </a:path>
              <a:path w="4909184" h="4460875">
                <a:moveTo>
                  <a:pt x="4832858" y="133350"/>
                </a:moveTo>
                <a:lnTo>
                  <a:pt x="4794758" y="133350"/>
                </a:lnTo>
                <a:lnTo>
                  <a:pt x="4851908" y="247650"/>
                </a:lnTo>
                <a:lnTo>
                  <a:pt x="4899533" y="152400"/>
                </a:lnTo>
                <a:lnTo>
                  <a:pt x="4832858" y="152400"/>
                </a:lnTo>
                <a:lnTo>
                  <a:pt x="4832858" y="133350"/>
                </a:lnTo>
                <a:close/>
              </a:path>
              <a:path w="4909184" h="4460875">
                <a:moveTo>
                  <a:pt x="4832858" y="19050"/>
                </a:moveTo>
                <a:lnTo>
                  <a:pt x="4832858" y="152400"/>
                </a:lnTo>
                <a:lnTo>
                  <a:pt x="4870958" y="152400"/>
                </a:lnTo>
                <a:lnTo>
                  <a:pt x="4870958" y="38100"/>
                </a:lnTo>
                <a:lnTo>
                  <a:pt x="4851908" y="38100"/>
                </a:lnTo>
                <a:lnTo>
                  <a:pt x="4832858" y="19050"/>
                </a:lnTo>
                <a:close/>
              </a:path>
              <a:path w="4909184" h="4460875">
                <a:moveTo>
                  <a:pt x="4909058" y="133350"/>
                </a:moveTo>
                <a:lnTo>
                  <a:pt x="4870958" y="133350"/>
                </a:lnTo>
                <a:lnTo>
                  <a:pt x="4870958" y="152400"/>
                </a:lnTo>
                <a:lnTo>
                  <a:pt x="4899533" y="152400"/>
                </a:lnTo>
                <a:lnTo>
                  <a:pt x="4909058" y="133350"/>
                </a:lnTo>
                <a:close/>
              </a:path>
              <a:path w="4909184" h="4460875">
                <a:moveTo>
                  <a:pt x="2607691" y="19050"/>
                </a:moveTo>
                <a:lnTo>
                  <a:pt x="2588641" y="38100"/>
                </a:lnTo>
                <a:lnTo>
                  <a:pt x="2607691" y="38100"/>
                </a:lnTo>
                <a:lnTo>
                  <a:pt x="2607691" y="19050"/>
                </a:lnTo>
                <a:close/>
              </a:path>
              <a:path w="4909184" h="4460875">
                <a:moveTo>
                  <a:pt x="4832858" y="19050"/>
                </a:moveTo>
                <a:lnTo>
                  <a:pt x="2607691" y="19050"/>
                </a:lnTo>
                <a:lnTo>
                  <a:pt x="2607691" y="38100"/>
                </a:lnTo>
                <a:lnTo>
                  <a:pt x="4832858" y="38100"/>
                </a:lnTo>
                <a:lnTo>
                  <a:pt x="4832858" y="19050"/>
                </a:lnTo>
                <a:close/>
              </a:path>
              <a:path w="4909184" h="4460875">
                <a:moveTo>
                  <a:pt x="4870958" y="19050"/>
                </a:moveTo>
                <a:lnTo>
                  <a:pt x="4832858" y="19050"/>
                </a:lnTo>
                <a:lnTo>
                  <a:pt x="4851908" y="38100"/>
                </a:lnTo>
                <a:lnTo>
                  <a:pt x="4870958" y="38100"/>
                </a:lnTo>
                <a:lnTo>
                  <a:pt x="4870958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592" y="1609344"/>
            <a:ext cx="4326636" cy="42199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9943" y="1906524"/>
            <a:ext cx="4174236" cy="29367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F4D-0A35-E516-9AB4-244E71DD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9C0F7-9430-BE53-E149-4E97F014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500" b="1" cap="all" spc="300" dirty="0"/>
              <a:t>Check out course website: https://</a:t>
            </a:r>
            <a:r>
              <a:rPr lang="en-US" sz="1500" b="1" cap="all" spc="300" dirty="0" err="1"/>
              <a:t>gazi</a:t>
            </a:r>
            <a:r>
              <a:rPr lang="en-US" sz="1500" b="1" cap="all" spc="300" dirty="0"/>
              <a:t>-end-</a:t>
            </a:r>
            <a:r>
              <a:rPr lang="en-US" sz="1500" b="1" cap="all" spc="300" dirty="0" err="1"/>
              <a:t>muh.github.io</a:t>
            </a:r>
            <a:endParaRPr lang="en-US" sz="1500" b="1" cap="all" spc="300" dirty="0"/>
          </a:p>
          <a:p>
            <a:pPr algn="ctr"/>
            <a:r>
              <a:rPr lang="en-US" sz="1500" b="1" cap="all" spc="300" dirty="0"/>
              <a:t>Got any questions later?  </a:t>
            </a:r>
          </a:p>
          <a:p>
            <a:pPr marL="0" lvl="1" algn="ctr">
              <a:spcBef>
                <a:spcPts val="1000"/>
              </a:spcBef>
            </a:pPr>
            <a:r>
              <a:rPr lang="en-US" sz="1500" b="1" cap="all" spc="300" dirty="0">
                <a:solidFill>
                  <a:schemeClr val="tx1"/>
                </a:solidFill>
              </a:rPr>
              <a:t>Send me an email: </a:t>
            </a:r>
            <a:r>
              <a:rPr lang="en-US" sz="1500" b="1" cap="all" spc="300" dirty="0" err="1">
                <a:solidFill>
                  <a:schemeClr val="tx1"/>
                </a:solidFill>
              </a:rPr>
              <a:t>dr.ercan.ezin@gmail.com</a:t>
            </a:r>
            <a:endParaRPr lang="en-US" sz="1500" b="1" cap="all" spc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8693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506</Words>
  <Application>Microsoft Macintosh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Grandview Display</vt:lpstr>
      <vt:lpstr>Monaco</vt:lpstr>
      <vt:lpstr>Verdana</vt:lpstr>
      <vt:lpstr>Wingdings</vt:lpstr>
      <vt:lpstr>DashVTI</vt:lpstr>
      <vt:lpstr>GAZİ UNIVERSITY  FACULTY OF ENGINEERING DEPARTMENT OF INDUSTRIAL ENGINEERING</vt:lpstr>
      <vt:lpstr>Attandance</vt:lpstr>
      <vt:lpstr>Conditional Statements</vt:lpstr>
      <vt:lpstr>IF Statement</vt:lpstr>
      <vt:lpstr>IF Flow Chart</vt:lpstr>
      <vt:lpstr>Example program for  IF statement</vt:lpstr>
      <vt:lpstr>IF Statement</vt:lpstr>
      <vt:lpstr>IF Statement</vt:lpstr>
      <vt:lpstr>IF Statement</vt:lpstr>
      <vt:lpstr>Switch-Case Statement</vt:lpstr>
      <vt:lpstr>Switch-Case Statement</vt:lpstr>
      <vt:lpstr>Switch-Case Statement</vt:lpstr>
      <vt:lpstr>Switch-Case Statement</vt:lpstr>
      <vt:lpstr>Switch-Case Statement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Öğr. Gör. Dr. Ercan EZİN</dc:creator>
  <cp:lastModifiedBy>Öğr. Gör. Dr. Ercan EZİN</cp:lastModifiedBy>
  <cp:revision>219</cp:revision>
  <dcterms:created xsi:type="dcterms:W3CDTF">2026-02-08T15:49:04Z</dcterms:created>
  <dcterms:modified xsi:type="dcterms:W3CDTF">2026-03-23T06:36:13Z</dcterms:modified>
</cp:coreProperties>
</file>