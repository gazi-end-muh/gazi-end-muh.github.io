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6" r:id="rId1"/>
  </p:sldMasterIdLst>
  <p:notesMasterIdLst>
    <p:notesMasterId r:id="rId32"/>
  </p:notesMasterIdLst>
  <p:sldIdLst>
    <p:sldId id="256" r:id="rId2"/>
    <p:sldId id="411" r:id="rId3"/>
    <p:sldId id="427" r:id="rId4"/>
    <p:sldId id="428" r:id="rId5"/>
    <p:sldId id="429" r:id="rId6"/>
    <p:sldId id="430" r:id="rId7"/>
    <p:sldId id="431" r:id="rId8"/>
    <p:sldId id="432" r:id="rId9"/>
    <p:sldId id="433" r:id="rId10"/>
    <p:sldId id="434" r:id="rId11"/>
    <p:sldId id="435" r:id="rId12"/>
    <p:sldId id="436" r:id="rId13"/>
    <p:sldId id="437" r:id="rId14"/>
    <p:sldId id="438" r:id="rId15"/>
    <p:sldId id="450" r:id="rId16"/>
    <p:sldId id="451" r:id="rId17"/>
    <p:sldId id="452" r:id="rId18"/>
    <p:sldId id="439" r:id="rId19"/>
    <p:sldId id="444" r:id="rId20"/>
    <p:sldId id="440" r:id="rId21"/>
    <p:sldId id="445" r:id="rId22"/>
    <p:sldId id="446" r:id="rId23"/>
    <p:sldId id="441" r:id="rId24"/>
    <p:sldId id="447" r:id="rId25"/>
    <p:sldId id="448" r:id="rId26"/>
    <p:sldId id="449" r:id="rId27"/>
    <p:sldId id="454" r:id="rId28"/>
    <p:sldId id="453" r:id="rId29"/>
    <p:sldId id="455" r:id="rId30"/>
    <p:sldId id="264"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624"/>
    <p:restoredTop sz="77662"/>
  </p:normalViewPr>
  <p:slideViewPr>
    <p:cSldViewPr snapToGrid="0">
      <p:cViewPr varScale="1">
        <p:scale>
          <a:sx n="110" d="100"/>
          <a:sy n="110" d="100"/>
        </p:scale>
        <p:origin x="2200"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8B24B2-2BF2-B243-AF41-DE609AFD7241}" type="datetimeFigureOut">
              <a:rPr lang="en-GB" smtClean="0"/>
              <a:t>26/04/2026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AD16DE-1839-AA45-890A-F31C6B94F215}" type="slidenum">
              <a:rPr lang="en-GB" smtClean="0"/>
              <a:t>‹#›</a:t>
            </a:fld>
            <a:endParaRPr lang="en-GB"/>
          </a:p>
        </p:txBody>
      </p:sp>
    </p:spTree>
    <p:extLst>
      <p:ext uri="{BB962C8B-B14F-4D97-AF65-F5344CB8AC3E}">
        <p14:creationId xmlns:p14="http://schemas.microsoft.com/office/powerpoint/2010/main" val="26019772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t>psql</a:t>
            </a:r>
            <a:r>
              <a:rPr lang="en-GB" dirty="0"/>
              <a:t> '</a:t>
            </a:r>
            <a:r>
              <a:rPr lang="en-GB" dirty="0" err="1"/>
              <a:t>postgres</a:t>
            </a:r>
            <a:r>
              <a:rPr lang="en-GB" dirty="0"/>
              <a:t>://avnadmin:AVNS_N01SNA-sf69kFX0efoc@pg-ie-326-ie-326.i.aivencloud.com:13140/</a:t>
            </a:r>
            <a:r>
              <a:rPr lang="en-GB" dirty="0" err="1"/>
              <a:t>defaultdb?sslmode</a:t>
            </a:r>
            <a:r>
              <a:rPr lang="en-GB" dirty="0"/>
              <a:t>=require'</a:t>
            </a:r>
          </a:p>
        </p:txBody>
      </p:sp>
      <p:sp>
        <p:nvSpPr>
          <p:cNvPr id="4" name="Slide Number Placeholder 3"/>
          <p:cNvSpPr>
            <a:spLocks noGrp="1"/>
          </p:cNvSpPr>
          <p:nvPr>
            <p:ph type="sldNum" sz="quarter" idx="5"/>
          </p:nvPr>
        </p:nvSpPr>
        <p:spPr/>
        <p:txBody>
          <a:bodyPr/>
          <a:lstStyle/>
          <a:p>
            <a:fld id="{7DAD16DE-1839-AA45-890A-F31C6B94F215}" type="slidenum">
              <a:rPr lang="en-GB" smtClean="0"/>
              <a:t>3</a:t>
            </a:fld>
            <a:endParaRPr lang="en-GB"/>
          </a:p>
        </p:txBody>
      </p:sp>
    </p:spTree>
    <p:extLst>
      <p:ext uri="{BB962C8B-B14F-4D97-AF65-F5344CB8AC3E}">
        <p14:creationId xmlns:p14="http://schemas.microsoft.com/office/powerpoint/2010/main" val="355074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DAD16DE-1839-AA45-890A-F31C6B94F215}" type="slidenum">
              <a:rPr lang="en-GB" smtClean="0"/>
              <a:t>8</a:t>
            </a:fld>
            <a:endParaRPr lang="en-GB"/>
          </a:p>
        </p:txBody>
      </p:sp>
    </p:spTree>
    <p:extLst>
      <p:ext uri="{BB962C8B-B14F-4D97-AF65-F5344CB8AC3E}">
        <p14:creationId xmlns:p14="http://schemas.microsoft.com/office/powerpoint/2010/main" val="42382060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DAD16DE-1839-AA45-890A-F31C6B94F215}" type="slidenum">
              <a:rPr lang="en-GB" smtClean="0"/>
              <a:t>15</a:t>
            </a:fld>
            <a:endParaRPr lang="en-GB"/>
          </a:p>
        </p:txBody>
      </p:sp>
    </p:spTree>
    <p:extLst>
      <p:ext uri="{BB962C8B-B14F-4D97-AF65-F5344CB8AC3E}">
        <p14:creationId xmlns:p14="http://schemas.microsoft.com/office/powerpoint/2010/main" val="32280772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SELECT DISTINCT </a:t>
            </a:r>
            <a:r>
              <a:rPr lang="en-GB" dirty="0" err="1"/>
              <a:t>s.full_name</a:t>
            </a:r>
            <a:r>
              <a:rPr lang="en-GB" dirty="0"/>
              <a:t>, </a:t>
            </a:r>
            <a:r>
              <a:rPr lang="en-GB" dirty="0" err="1"/>
              <a:t>d.dept_name</a:t>
            </a:r>
            <a:r>
              <a:rPr lang="en-GB" dirty="0"/>
              <a:t> FROM students s INNER JOIN departments d ON </a:t>
            </a:r>
            <a:r>
              <a:rPr lang="en-GB" dirty="0" err="1"/>
              <a:t>s.dept_id</a:t>
            </a:r>
            <a:r>
              <a:rPr lang="en-GB" dirty="0"/>
              <a:t> = </a:t>
            </a:r>
            <a:r>
              <a:rPr lang="en-GB" dirty="0" err="1"/>
              <a:t>d.dept_id</a:t>
            </a:r>
            <a:r>
              <a:rPr lang="en-GB" dirty="0"/>
              <a:t> INNER JOIN </a:t>
            </a:r>
            <a:r>
              <a:rPr lang="en-GB" dirty="0" err="1"/>
              <a:t>lab_logs</a:t>
            </a:r>
            <a:r>
              <a:rPr lang="en-GB" dirty="0"/>
              <a:t> l ON </a:t>
            </a:r>
            <a:r>
              <a:rPr lang="en-GB" dirty="0" err="1"/>
              <a:t>s.student_id</a:t>
            </a:r>
            <a:r>
              <a:rPr lang="en-GB" dirty="0"/>
              <a:t> = </a:t>
            </a:r>
            <a:r>
              <a:rPr lang="en-GB" dirty="0" err="1"/>
              <a:t>l.student_id</a:t>
            </a:r>
            <a:r>
              <a:rPr lang="en-GB" dirty="0"/>
              <a:t> WHERE </a:t>
            </a:r>
            <a:r>
              <a:rPr lang="en-GB" dirty="0" err="1"/>
              <a:t>s.full_name</a:t>
            </a:r>
            <a:r>
              <a:rPr lang="en-GB" dirty="0"/>
              <a:t> ILIKE '%</a:t>
            </a:r>
            <a:r>
              <a:rPr lang="en-GB" dirty="0" err="1"/>
              <a:t>i</a:t>
            </a:r>
            <a:r>
              <a:rPr lang="en-GB" dirty="0"/>
              <a:t>%';</a:t>
            </a:r>
          </a:p>
        </p:txBody>
      </p:sp>
      <p:sp>
        <p:nvSpPr>
          <p:cNvPr id="4" name="Slide Number Placeholder 3"/>
          <p:cNvSpPr>
            <a:spLocks noGrp="1"/>
          </p:cNvSpPr>
          <p:nvPr>
            <p:ph type="sldNum" sz="quarter" idx="5"/>
          </p:nvPr>
        </p:nvSpPr>
        <p:spPr/>
        <p:txBody>
          <a:bodyPr/>
          <a:lstStyle/>
          <a:p>
            <a:fld id="{7DAD16DE-1839-AA45-890A-F31C6B94F215}" type="slidenum">
              <a:rPr lang="en-GB" smtClean="0"/>
              <a:t>16</a:t>
            </a:fld>
            <a:endParaRPr lang="en-GB"/>
          </a:p>
        </p:txBody>
      </p:sp>
    </p:spTree>
    <p:extLst>
      <p:ext uri="{BB962C8B-B14F-4D97-AF65-F5344CB8AC3E}">
        <p14:creationId xmlns:p14="http://schemas.microsoft.com/office/powerpoint/2010/main" val="30804426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SELECT </a:t>
            </a:r>
            <a:r>
              <a:rPr lang="en-GB" dirty="0" err="1"/>
              <a:t>d.dept_name</a:t>
            </a:r>
            <a:r>
              <a:rPr lang="en-GB" dirty="0"/>
              <a:t>, COUNT(</a:t>
            </a:r>
            <a:r>
              <a:rPr lang="en-GB" dirty="0" err="1"/>
              <a:t>l.log_id</a:t>
            </a:r>
            <a:r>
              <a:rPr lang="en-GB" dirty="0"/>
              <a:t>) AS </a:t>
            </a:r>
            <a:r>
              <a:rPr lang="en-GB" dirty="0" err="1"/>
              <a:t>total_lab_entries</a:t>
            </a:r>
            <a:r>
              <a:rPr lang="en-GB" dirty="0"/>
              <a:t> FROM departments d LEFT JOIN students s ON </a:t>
            </a:r>
            <a:r>
              <a:rPr lang="en-GB" dirty="0" err="1"/>
              <a:t>d.dept_id</a:t>
            </a:r>
            <a:r>
              <a:rPr lang="en-GB" dirty="0"/>
              <a:t> = </a:t>
            </a:r>
            <a:r>
              <a:rPr lang="en-GB" dirty="0" err="1"/>
              <a:t>s.dept_id</a:t>
            </a:r>
            <a:r>
              <a:rPr lang="en-GB" dirty="0"/>
              <a:t> LEFT JOIN </a:t>
            </a:r>
            <a:r>
              <a:rPr lang="en-GB" dirty="0" err="1"/>
              <a:t>lab_logs</a:t>
            </a:r>
            <a:r>
              <a:rPr lang="en-GB" dirty="0"/>
              <a:t> l ON </a:t>
            </a:r>
            <a:r>
              <a:rPr lang="en-GB" dirty="0" err="1"/>
              <a:t>s.student_id</a:t>
            </a:r>
            <a:r>
              <a:rPr lang="en-GB" dirty="0"/>
              <a:t> = </a:t>
            </a:r>
            <a:r>
              <a:rPr lang="en-GB" dirty="0" err="1"/>
              <a:t>l.student_id</a:t>
            </a:r>
            <a:r>
              <a:rPr lang="en-GB" dirty="0"/>
              <a:t> GROUP BY </a:t>
            </a:r>
            <a:r>
              <a:rPr lang="en-GB" dirty="0" err="1"/>
              <a:t>d.dept_name</a:t>
            </a:r>
            <a:r>
              <a:rPr lang="en-GB" dirty="0"/>
              <a:t>;</a:t>
            </a:r>
          </a:p>
          <a:p>
            <a:endParaRPr lang="en-GB" dirty="0"/>
          </a:p>
          <a:p>
            <a:endParaRPr lang="en-GB" dirty="0"/>
          </a:p>
          <a:p>
            <a:r>
              <a:rPr lang="en-GB" dirty="0"/>
              <a:t>Logic: We start with </a:t>
            </a:r>
            <a:r>
              <a:rPr lang="en-GB" sz="1200" kern="1200" dirty="0">
                <a:solidFill>
                  <a:schemeClr val="tx1"/>
                </a:solidFill>
                <a:latin typeface="+mn-lt"/>
                <a:ea typeface="+mn-ea"/>
                <a:cs typeface="+mn-cs"/>
              </a:rPr>
              <a:t>departments</a:t>
            </a:r>
            <a:r>
              <a:rPr lang="en-GB" dirty="0"/>
              <a:t> as the left table to ensure even empty departments are counted. </a:t>
            </a:r>
            <a:r>
              <a:rPr lang="en-GB" sz="1200" kern="1200" dirty="0">
                <a:solidFill>
                  <a:schemeClr val="tx1"/>
                </a:solidFill>
                <a:latin typeface="+mn-lt"/>
                <a:ea typeface="+mn-ea"/>
                <a:cs typeface="+mn-cs"/>
              </a:rPr>
              <a:t>COUNT(</a:t>
            </a:r>
            <a:r>
              <a:rPr lang="en-GB" sz="1200" kern="1200" dirty="0" err="1">
                <a:solidFill>
                  <a:schemeClr val="tx1"/>
                </a:solidFill>
                <a:latin typeface="+mn-lt"/>
                <a:ea typeface="+mn-ea"/>
                <a:cs typeface="+mn-cs"/>
              </a:rPr>
              <a:t>l.log_id</a:t>
            </a:r>
            <a:r>
              <a:rPr lang="en-GB" sz="1200" kern="1200" dirty="0">
                <a:solidFill>
                  <a:schemeClr val="tx1"/>
                </a:solidFill>
                <a:latin typeface="+mn-lt"/>
                <a:ea typeface="+mn-ea"/>
                <a:cs typeface="+mn-cs"/>
              </a:rPr>
              <a:t>)</a:t>
            </a:r>
            <a:r>
              <a:rPr lang="en-GB" dirty="0"/>
              <a:t> automatically ignores NULLs, effectively returning 0 for empty departments.</a:t>
            </a:r>
          </a:p>
        </p:txBody>
      </p:sp>
      <p:sp>
        <p:nvSpPr>
          <p:cNvPr id="4" name="Slide Number Placeholder 3"/>
          <p:cNvSpPr>
            <a:spLocks noGrp="1"/>
          </p:cNvSpPr>
          <p:nvPr>
            <p:ph type="sldNum" sz="quarter" idx="5"/>
          </p:nvPr>
        </p:nvSpPr>
        <p:spPr/>
        <p:txBody>
          <a:bodyPr/>
          <a:lstStyle/>
          <a:p>
            <a:fld id="{7DAD16DE-1839-AA45-890A-F31C6B94F215}" type="slidenum">
              <a:rPr lang="en-GB" smtClean="0"/>
              <a:t>17</a:t>
            </a:fld>
            <a:endParaRPr lang="en-GB"/>
          </a:p>
        </p:txBody>
      </p:sp>
    </p:spTree>
    <p:extLst>
      <p:ext uri="{BB962C8B-B14F-4D97-AF65-F5344CB8AC3E}">
        <p14:creationId xmlns:p14="http://schemas.microsoft.com/office/powerpoint/2010/main" val="5753304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F556E-616F-FBA8-0553-258944C583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38BB6-E009-28B5-C6C5-666E0C8DAD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90D055-BAC3-3FAB-71F0-76426ABD7098}"/>
              </a:ext>
            </a:extLst>
          </p:cNvPr>
          <p:cNvSpPr>
            <a:spLocks noGrp="1"/>
          </p:cNvSpPr>
          <p:nvPr>
            <p:ph type="body" idx="1"/>
          </p:nvPr>
        </p:nvSpPr>
        <p:spPr/>
        <p:txBody>
          <a:bodyPr/>
          <a:lstStyle/>
          <a:p>
            <a:r>
              <a:rPr lang="en-GB" dirty="0"/>
              <a:t> </a:t>
            </a:r>
          </a:p>
          <a:p>
            <a:r>
              <a:rPr lang="en-GB" dirty="0"/>
              <a:t>SELECT </a:t>
            </a:r>
            <a:r>
              <a:rPr lang="en-GB" dirty="0" err="1"/>
              <a:t>l.entry_time</a:t>
            </a:r>
            <a:r>
              <a:rPr lang="en-GB" dirty="0"/>
              <a:t>, </a:t>
            </a:r>
            <a:r>
              <a:rPr lang="en-GB" dirty="0" err="1"/>
              <a:t>l.room_code</a:t>
            </a:r>
            <a:r>
              <a:rPr lang="en-GB" dirty="0"/>
              <a:t>, </a:t>
            </a:r>
            <a:r>
              <a:rPr lang="en-GB" dirty="0" err="1"/>
              <a:t>s.full_name</a:t>
            </a:r>
            <a:r>
              <a:rPr lang="en-GB" dirty="0"/>
              <a:t> FROM students s RIGHT JOIN </a:t>
            </a:r>
            <a:r>
              <a:rPr lang="en-GB" dirty="0" err="1"/>
              <a:t>lab_logs</a:t>
            </a:r>
            <a:r>
              <a:rPr lang="en-GB" dirty="0"/>
              <a:t> l ON </a:t>
            </a:r>
            <a:r>
              <a:rPr lang="en-GB" dirty="0" err="1"/>
              <a:t>s.student_id</a:t>
            </a:r>
            <a:r>
              <a:rPr lang="en-GB" dirty="0"/>
              <a:t> = </a:t>
            </a:r>
            <a:r>
              <a:rPr lang="en-GB" dirty="0" err="1"/>
              <a:t>l.student_id</a:t>
            </a:r>
            <a:r>
              <a:rPr lang="en-GB" dirty="0"/>
              <a:t> WHERE </a:t>
            </a:r>
            <a:r>
              <a:rPr lang="en-GB" dirty="0" err="1"/>
              <a:t>l.room_code</a:t>
            </a:r>
            <a:r>
              <a:rPr lang="en-GB" dirty="0"/>
              <a:t> = 'LAB-A';</a:t>
            </a:r>
          </a:p>
          <a:p>
            <a:endParaRPr lang="en-GB" dirty="0"/>
          </a:p>
        </p:txBody>
      </p:sp>
      <p:sp>
        <p:nvSpPr>
          <p:cNvPr id="4" name="Slide Number Placeholder 3">
            <a:extLst>
              <a:ext uri="{FF2B5EF4-FFF2-40B4-BE49-F238E27FC236}">
                <a16:creationId xmlns:a16="http://schemas.microsoft.com/office/drawing/2014/main" id="{66B6E9D4-5DD5-949F-D804-ABF7FB74ECB6}"/>
              </a:ext>
            </a:extLst>
          </p:cNvPr>
          <p:cNvSpPr>
            <a:spLocks noGrp="1"/>
          </p:cNvSpPr>
          <p:nvPr>
            <p:ph type="sldNum" sz="quarter" idx="5"/>
          </p:nvPr>
        </p:nvSpPr>
        <p:spPr/>
        <p:txBody>
          <a:bodyPr/>
          <a:lstStyle/>
          <a:p>
            <a:fld id="{7DAD16DE-1839-AA45-890A-F31C6B94F215}" type="slidenum">
              <a:rPr lang="en-GB" smtClean="0"/>
              <a:t>27</a:t>
            </a:fld>
            <a:endParaRPr lang="en-GB"/>
          </a:p>
        </p:txBody>
      </p:sp>
    </p:spTree>
    <p:extLst>
      <p:ext uri="{BB962C8B-B14F-4D97-AF65-F5344CB8AC3E}">
        <p14:creationId xmlns:p14="http://schemas.microsoft.com/office/powerpoint/2010/main" val="29015195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SELECT </a:t>
            </a:r>
            <a:r>
              <a:rPr lang="en-GB" dirty="0" err="1"/>
              <a:t>s.full_name</a:t>
            </a:r>
            <a:r>
              <a:rPr lang="en-GB" dirty="0"/>
              <a:t>, </a:t>
            </a:r>
            <a:r>
              <a:rPr lang="en-GB" dirty="0" err="1"/>
              <a:t>d.dept_name</a:t>
            </a:r>
            <a:endParaRPr lang="en-GB" dirty="0"/>
          </a:p>
          <a:p>
            <a:r>
              <a:rPr lang="en-GB" dirty="0"/>
              <a:t>FROM students s</a:t>
            </a:r>
          </a:p>
          <a:p>
            <a:r>
              <a:rPr lang="en-GB" dirty="0"/>
              <a:t>FULL OUTER JOIN departments d ON </a:t>
            </a:r>
            <a:r>
              <a:rPr lang="en-GB" dirty="0" err="1"/>
              <a:t>s.dept_id</a:t>
            </a:r>
            <a:r>
              <a:rPr lang="en-GB" dirty="0"/>
              <a:t> = </a:t>
            </a:r>
            <a:r>
              <a:rPr lang="en-GB" dirty="0" err="1"/>
              <a:t>d.dept_id</a:t>
            </a:r>
            <a:endParaRPr lang="en-GB" dirty="0"/>
          </a:p>
          <a:p>
            <a:r>
              <a:rPr lang="en-GB" dirty="0"/>
              <a:t>WHERE </a:t>
            </a:r>
            <a:r>
              <a:rPr lang="en-GB" dirty="0" err="1"/>
              <a:t>s.student_id</a:t>
            </a:r>
            <a:r>
              <a:rPr lang="en-GB" dirty="0"/>
              <a:t> IS NULL OR </a:t>
            </a:r>
            <a:r>
              <a:rPr lang="en-GB" dirty="0" err="1"/>
              <a:t>d.dept_id</a:t>
            </a:r>
            <a:r>
              <a:rPr lang="en-GB" dirty="0"/>
              <a:t> IS NULL;</a:t>
            </a:r>
          </a:p>
          <a:p>
            <a:endParaRPr lang="en-GB" dirty="0"/>
          </a:p>
          <a:p>
            <a:endParaRPr lang="en-GB" dirty="0"/>
          </a:p>
          <a:p>
            <a:endParaRPr lang="en-GB" dirty="0"/>
          </a:p>
          <a:p>
            <a:r>
              <a:rPr lang="en-GB" dirty="0"/>
              <a:t>SELECT </a:t>
            </a:r>
            <a:r>
              <a:rPr lang="en-GB" dirty="0" err="1"/>
              <a:t>s.full_name</a:t>
            </a:r>
            <a:r>
              <a:rPr lang="en-GB" dirty="0"/>
              <a:t>, </a:t>
            </a:r>
            <a:r>
              <a:rPr lang="en-GB" dirty="0" err="1"/>
              <a:t>l.log_id</a:t>
            </a:r>
            <a:r>
              <a:rPr lang="en-GB" dirty="0"/>
              <a:t>, </a:t>
            </a:r>
            <a:r>
              <a:rPr lang="en-GB" dirty="0" err="1"/>
              <a:t>l.room_code</a:t>
            </a:r>
            <a:r>
              <a:rPr lang="en-GB" dirty="0"/>
              <a:t> FROM students s FULL OUTER JOIN </a:t>
            </a:r>
            <a:r>
              <a:rPr lang="en-GB" dirty="0" err="1"/>
              <a:t>lab_logs</a:t>
            </a:r>
            <a:r>
              <a:rPr lang="en-GB" dirty="0"/>
              <a:t> l ON </a:t>
            </a:r>
            <a:r>
              <a:rPr lang="en-GB" dirty="0" err="1"/>
              <a:t>s.student_id</a:t>
            </a:r>
            <a:r>
              <a:rPr lang="en-GB" dirty="0"/>
              <a:t> = </a:t>
            </a:r>
            <a:r>
              <a:rPr lang="en-GB" dirty="0" err="1"/>
              <a:t>l.student_id</a:t>
            </a:r>
            <a:r>
              <a:rPr lang="en-GB" dirty="0"/>
              <a:t> WHERE (</a:t>
            </a:r>
            <a:r>
              <a:rPr lang="en-GB" dirty="0" err="1"/>
              <a:t>s.student_id</a:t>
            </a:r>
            <a:r>
              <a:rPr lang="en-GB" dirty="0"/>
              <a:t> IS NULL OR </a:t>
            </a:r>
            <a:r>
              <a:rPr lang="en-GB" dirty="0" err="1"/>
              <a:t>l.log_id</a:t>
            </a:r>
            <a:r>
              <a:rPr lang="en-GB" dirty="0"/>
              <a:t> IS NULL) AND (</a:t>
            </a:r>
            <a:r>
              <a:rPr lang="en-GB" dirty="0" err="1"/>
              <a:t>s.full_name</a:t>
            </a:r>
            <a:r>
              <a:rPr lang="en-GB" dirty="0"/>
              <a:t> LIKE 'B%' OR </a:t>
            </a:r>
            <a:r>
              <a:rPr lang="en-GB" dirty="0" err="1"/>
              <a:t>s.full_name</a:t>
            </a:r>
            <a:r>
              <a:rPr lang="en-GB" dirty="0"/>
              <a:t> LIKE 'D%');</a:t>
            </a:r>
          </a:p>
        </p:txBody>
      </p:sp>
      <p:sp>
        <p:nvSpPr>
          <p:cNvPr id="4" name="Slide Number Placeholder 3"/>
          <p:cNvSpPr>
            <a:spLocks noGrp="1"/>
          </p:cNvSpPr>
          <p:nvPr>
            <p:ph type="sldNum" sz="quarter" idx="5"/>
          </p:nvPr>
        </p:nvSpPr>
        <p:spPr/>
        <p:txBody>
          <a:bodyPr/>
          <a:lstStyle/>
          <a:p>
            <a:fld id="{7DAD16DE-1839-AA45-890A-F31C6B94F215}" type="slidenum">
              <a:rPr lang="en-GB" smtClean="0"/>
              <a:t>28</a:t>
            </a:fld>
            <a:endParaRPr lang="en-GB"/>
          </a:p>
        </p:txBody>
      </p:sp>
    </p:spTree>
    <p:extLst>
      <p:ext uri="{BB962C8B-B14F-4D97-AF65-F5344CB8AC3E}">
        <p14:creationId xmlns:p14="http://schemas.microsoft.com/office/powerpoint/2010/main" val="9455864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DAD16DE-1839-AA45-890A-F31C6B94F215}" type="slidenum">
              <a:rPr lang="en-GB" smtClean="0"/>
              <a:t>29</a:t>
            </a:fld>
            <a:endParaRPr lang="en-GB"/>
          </a:p>
        </p:txBody>
      </p:sp>
    </p:spTree>
    <p:extLst>
      <p:ext uri="{BB962C8B-B14F-4D97-AF65-F5344CB8AC3E}">
        <p14:creationId xmlns:p14="http://schemas.microsoft.com/office/powerpoint/2010/main" val="18175380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4/26/26</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a:xfrm>
            <a:off x="6767622" y="6356350"/>
            <a:ext cx="4040373"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757281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4/26/26</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a:xfrm>
            <a:off x="6767622" y="6356350"/>
            <a:ext cx="4040373"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607348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4/26/26</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a:xfrm>
            <a:off x="6767622" y="6356350"/>
            <a:ext cx="4040373"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49458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4/26/26</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a:xfrm>
            <a:off x="6767622" y="6356350"/>
            <a:ext cx="4040373"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5310581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4/26/26</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a:xfrm>
            <a:off x="6767622" y="6356350"/>
            <a:ext cx="4040373" cy="365125"/>
          </a:xfrm>
          <a:prstGeom prst="rect">
            <a:avLst/>
          </a:prstGeom>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0298562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4/26/26</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a:xfrm>
            <a:off x="6767622" y="6356350"/>
            <a:ext cx="4040373" cy="365125"/>
          </a:xfrm>
          <a:prstGeom prst="rect">
            <a:avLst/>
          </a:prstGeom>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436427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4/26/26</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a:xfrm>
            <a:off x="6767622" y="6356350"/>
            <a:ext cx="4040373" cy="365125"/>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8421078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4/26/26</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a:xfrm>
            <a:off x="6767622" y="6356350"/>
            <a:ext cx="4040373"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3996148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4/26/26</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a:xfrm>
            <a:off x="6767622" y="6356350"/>
            <a:ext cx="4040373"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055190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4/26/26</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a:xfrm>
            <a:off x="6767622" y="6356350"/>
            <a:ext cx="4040373"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7052861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4/26/26</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a:xfrm>
            <a:off x="6767622" y="6356350"/>
            <a:ext cx="4040373"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17986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997426" y="860852"/>
            <a:ext cx="1753679" cy="333501"/>
          </a:xfrm>
          <a:prstGeom prst="rect">
            <a:avLst/>
          </a:prstGeom>
        </p:spPr>
      </p:pic>
      <p:sp>
        <p:nvSpPr>
          <p:cNvPr id="2" name="Holder 2"/>
          <p:cNvSpPr>
            <a:spLocks noGrp="1"/>
          </p:cNvSpPr>
          <p:nvPr>
            <p:ph type="ctrTitle"/>
          </p:nvPr>
        </p:nvSpPr>
        <p:spPr>
          <a:xfrm>
            <a:off x="935346" y="689609"/>
            <a:ext cx="6884572" cy="546303"/>
          </a:xfrm>
          <a:prstGeom prst="rect">
            <a:avLst/>
          </a:prstGeom>
        </p:spPr>
        <p:txBody>
          <a:bodyPr wrap="square" lIns="0" tIns="0" rIns="0" bIns="0">
            <a:spAutoFit/>
          </a:bodyPr>
          <a:lstStyle>
            <a:lvl1pPr>
              <a:defRPr sz="3550" b="0" i="0">
                <a:solidFill>
                  <a:schemeClr val="tx1"/>
                </a:solidFill>
                <a:latin typeface="Calibri Light"/>
                <a:cs typeface="Calibri Light"/>
              </a:defRPr>
            </a:lvl1pPr>
          </a:lstStyle>
          <a:p>
            <a:endParaRPr/>
          </a:p>
        </p:txBody>
      </p:sp>
      <p:sp>
        <p:nvSpPr>
          <p:cNvPr id="3" name="Holder 3"/>
          <p:cNvSpPr>
            <a:spLocks noGrp="1"/>
          </p:cNvSpPr>
          <p:nvPr>
            <p:ph type="subTitle" idx="4"/>
          </p:nvPr>
        </p:nvSpPr>
        <p:spPr>
          <a:xfrm>
            <a:off x="1828800" y="3840480"/>
            <a:ext cx="8534400" cy="327462"/>
          </a:xfrm>
          <a:prstGeom prst="rect">
            <a:avLst/>
          </a:prstGeom>
        </p:spPr>
        <p:txBody>
          <a:bodyPr wrap="square" lIns="0" tIns="0" rIns="0" bIns="0">
            <a:spAutoFit/>
          </a:bodyPr>
          <a:lstStyle>
            <a:lvl1pPr>
              <a:defRPr sz="19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1300" b="1" i="0">
                <a:solidFill>
                  <a:srgbClr val="006FC0"/>
                </a:solidFill>
                <a:latin typeface="Verdana"/>
                <a:cs typeface="Verdana"/>
              </a:defRPr>
            </a:lvl1pPr>
          </a:lstStyle>
          <a:p>
            <a:pPr marL="12700">
              <a:spcBef>
                <a:spcPts val="100"/>
              </a:spcBef>
            </a:pPr>
            <a:r>
              <a:rPr lang="en-GB"/>
              <a:t>Gazi</a:t>
            </a:r>
            <a:r>
              <a:rPr lang="en-GB" spc="-55"/>
              <a:t> </a:t>
            </a:r>
            <a:r>
              <a:rPr lang="en-GB"/>
              <a:t>University</a:t>
            </a:r>
            <a:r>
              <a:rPr lang="en-GB" spc="-30"/>
              <a:t> </a:t>
            </a:r>
            <a:r>
              <a:rPr lang="en-GB"/>
              <a:t>Industrial</a:t>
            </a:r>
            <a:r>
              <a:rPr lang="en-GB" spc="-30"/>
              <a:t> </a:t>
            </a:r>
            <a:r>
              <a:rPr lang="en-GB"/>
              <a:t>Engineering</a:t>
            </a:r>
            <a:r>
              <a:rPr lang="en-GB" spc="-70"/>
              <a:t> </a:t>
            </a:r>
            <a:r>
              <a:rPr lang="en-GB"/>
              <a:t>–</a:t>
            </a:r>
            <a:r>
              <a:rPr lang="en-GB" spc="-60"/>
              <a:t> </a:t>
            </a:r>
            <a:r>
              <a:rPr lang="en-GB"/>
              <a:t>Database</a:t>
            </a:r>
            <a:r>
              <a:rPr lang="en-GB" spc="-65"/>
              <a:t> </a:t>
            </a:r>
            <a:r>
              <a:rPr lang="en-GB"/>
              <a:t>Management</a:t>
            </a:r>
            <a:r>
              <a:rPr lang="en-GB" spc="-35"/>
              <a:t> </a:t>
            </a:r>
            <a:r>
              <a:rPr lang="en-GB"/>
              <a:t>Systems</a:t>
            </a:r>
            <a:r>
              <a:rPr lang="en-GB" spc="-45"/>
              <a:t> </a:t>
            </a:r>
            <a:r>
              <a:rPr lang="en-GB"/>
              <a:t>Lecture</a:t>
            </a:r>
            <a:r>
              <a:rPr lang="en-GB" spc="-60"/>
              <a:t> </a:t>
            </a:r>
            <a:r>
              <a:rPr lang="en-GB" spc="-10"/>
              <a:t>Notes</a:t>
            </a:r>
            <a:endParaRPr lang="en-GB" spc="-10"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4/26/26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1363862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4/26/26</a:t>
            </a:fld>
            <a:endParaRPr lang="en-US"/>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5336111"/>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5" r:id="rId6"/>
    <p:sldLayoutId id="2147483680" r:id="rId7"/>
    <p:sldLayoutId id="2147483681" r:id="rId8"/>
    <p:sldLayoutId id="2147483682" r:id="rId9"/>
    <p:sldLayoutId id="2147483684" r:id="rId10"/>
    <p:sldLayoutId id="2147483683" r:id="rId11"/>
    <p:sldLayoutId id="2147483687" r:id="rId12"/>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6.xml"/><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38.png"/></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40.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5" name="Rectangle 1054">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3" name="Subtitle 2">
            <a:extLst>
              <a:ext uri="{FF2B5EF4-FFF2-40B4-BE49-F238E27FC236}">
                <a16:creationId xmlns:a16="http://schemas.microsoft.com/office/drawing/2014/main" id="{56819F2F-6A96-8A6F-5ACD-C9AACA119907}"/>
              </a:ext>
            </a:extLst>
          </p:cNvPr>
          <p:cNvSpPr>
            <a:spLocks noGrp="1"/>
          </p:cNvSpPr>
          <p:nvPr>
            <p:ph type="subTitle" idx="1"/>
          </p:nvPr>
        </p:nvSpPr>
        <p:spPr>
          <a:xfrm>
            <a:off x="5215128" y="4812106"/>
            <a:ext cx="6400223" cy="1334655"/>
          </a:xfrm>
        </p:spPr>
        <p:txBody>
          <a:bodyPr anchor="b">
            <a:normAutofit/>
          </a:bodyPr>
          <a:lstStyle/>
          <a:p>
            <a:r>
              <a:rPr lang="en-GB" dirty="0"/>
              <a:t>IE326-Database Management SYSTEMS</a:t>
            </a:r>
          </a:p>
        </p:txBody>
      </p:sp>
      <p:pic>
        <p:nvPicPr>
          <p:cNvPr id="1028" name="Picture 4" descr="Gazi University | Study in Turkey | Find And Study – No Exam, Public &amp;  Private Universities">
            <a:extLst>
              <a:ext uri="{FF2B5EF4-FFF2-40B4-BE49-F238E27FC236}">
                <a16:creationId xmlns:a16="http://schemas.microsoft.com/office/drawing/2014/main" id="{27004BED-D625-39FF-01A4-AB83332F9454}"/>
              </a:ext>
            </a:extLst>
          </p:cNvPr>
          <p:cNvPicPr>
            <a:picLocks noChangeAspect="1" noChangeArrowheads="1"/>
          </p:cNvPicPr>
          <p:nvPr/>
        </p:nvPicPr>
        <p:blipFill rotWithShape="1">
          <a:blip r:embed="rId2">
            <a:alphaModFix amt="20000"/>
            <a:extLst>
              <a:ext uri="{28A0092B-C50C-407E-A947-70E740481C1C}">
                <a14:useLocalDpi xmlns:a14="http://schemas.microsoft.com/office/drawing/2010/main" val="0"/>
              </a:ext>
            </a:extLst>
          </a:blip>
          <a:srcRect l="18006" t="5199" r="18557" b="5816"/>
          <a:stretch>
            <a:fillRect/>
          </a:stretch>
        </p:blipFill>
        <p:spPr bwMode="auto">
          <a:xfrm>
            <a:off x="3371335" y="711119"/>
            <a:ext cx="5449330" cy="4979774"/>
          </a:xfrm>
          <a:prstGeom prst="rect">
            <a:avLst/>
          </a:prstGeom>
          <a:noFill/>
          <a:extLst>
            <a:ext uri="{909E8E84-426E-40DD-AFC4-6F175D3DCCD1}">
              <a14:hiddenFill xmlns:a14="http://schemas.microsoft.com/office/drawing/2010/main">
                <a:solidFill>
                  <a:srgbClr val="FFFFFF"/>
                </a:solidFill>
              </a14:hiddenFill>
            </a:ext>
          </a:extLst>
        </p:spPr>
      </p:pic>
      <p:cxnSp>
        <p:nvCxnSpPr>
          <p:cNvPr id="1057" name="Straight Connector 1056">
            <a:extLst>
              <a:ext uri="{FF2B5EF4-FFF2-40B4-BE49-F238E27FC236}">
                <a16:creationId xmlns:a16="http://schemas.microsoft.com/office/drawing/2014/main" id="{7CC73A33-65FF-41A9-A3B0-006753CD102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215128" y="6274446"/>
            <a:ext cx="697687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764A46B7-E1E2-7324-4AB1-9B7F40B89836}"/>
              </a:ext>
            </a:extLst>
          </p:cNvPr>
          <p:cNvSpPr>
            <a:spLocks noGrp="1"/>
          </p:cNvSpPr>
          <p:nvPr>
            <p:ph type="ctrTitle"/>
          </p:nvPr>
        </p:nvSpPr>
        <p:spPr>
          <a:xfrm>
            <a:off x="1023075" y="1436674"/>
            <a:ext cx="10145849" cy="2919564"/>
          </a:xfrm>
        </p:spPr>
        <p:txBody>
          <a:bodyPr anchor="t">
            <a:noAutofit/>
          </a:bodyPr>
          <a:lstStyle/>
          <a:p>
            <a:pPr algn="ctr"/>
            <a:r>
              <a:rPr lang="en-GB" sz="4400" dirty="0">
                <a:latin typeface="Monaco" pitchFamily="2" charset="77"/>
                <a:cs typeface="Consolas" panose="020B0609020204030204" pitchFamily="49" charset="0"/>
              </a:rPr>
              <a:t>GAZİ UNIVERSITY</a:t>
            </a:r>
            <a:br>
              <a:rPr lang="en-GB" sz="4400" dirty="0">
                <a:latin typeface="Monaco" pitchFamily="2" charset="77"/>
                <a:cs typeface="Consolas" panose="020B0609020204030204" pitchFamily="49" charset="0"/>
              </a:rPr>
            </a:br>
            <a:br>
              <a:rPr lang="en-GB" sz="4400" dirty="0">
                <a:latin typeface="Monaco" pitchFamily="2" charset="77"/>
                <a:cs typeface="Consolas" panose="020B0609020204030204" pitchFamily="49" charset="0"/>
              </a:rPr>
            </a:br>
            <a:r>
              <a:rPr lang="en-GB" sz="4400" dirty="0">
                <a:latin typeface="Monaco" pitchFamily="2" charset="77"/>
              </a:rPr>
              <a:t>FACULTY OF ENGINEERING</a:t>
            </a:r>
            <a:br>
              <a:rPr lang="en-GB" sz="4400" dirty="0">
                <a:latin typeface="Monaco" pitchFamily="2" charset="77"/>
              </a:rPr>
            </a:br>
            <a:r>
              <a:rPr lang="en-GB" sz="4400" dirty="0">
                <a:latin typeface="Monaco" pitchFamily="2" charset="77"/>
                <a:ea typeface="Cambria Math" panose="02040503050406030204" pitchFamily="18" charset="0"/>
              </a:rPr>
              <a:t>DEPARTMENT OF INDUSTRIAL ENGINEERING</a:t>
            </a:r>
            <a:endParaRPr lang="en-GB" sz="4400" dirty="0">
              <a:latin typeface="Monaco" pitchFamily="2" charset="77"/>
              <a:ea typeface="Cambria Math" panose="02040503050406030204" pitchFamily="18" charset="0"/>
              <a:cs typeface="Consolas" panose="020B0609020204030204" pitchFamily="49" charset="0"/>
            </a:endParaRPr>
          </a:p>
        </p:txBody>
      </p:sp>
      <p:sp>
        <p:nvSpPr>
          <p:cNvPr id="5" name="TextBox 4">
            <a:extLst>
              <a:ext uri="{FF2B5EF4-FFF2-40B4-BE49-F238E27FC236}">
                <a16:creationId xmlns:a16="http://schemas.microsoft.com/office/drawing/2014/main" id="{ED836926-0789-AE8C-3965-5009FA750AA5}"/>
              </a:ext>
            </a:extLst>
          </p:cNvPr>
          <p:cNvSpPr txBox="1"/>
          <p:nvPr/>
        </p:nvSpPr>
        <p:spPr>
          <a:xfrm>
            <a:off x="5215128" y="6387776"/>
            <a:ext cx="1976823" cy="369332"/>
          </a:xfrm>
          <a:prstGeom prst="rect">
            <a:avLst/>
          </a:prstGeom>
          <a:noFill/>
        </p:spPr>
        <p:txBody>
          <a:bodyPr wrap="none" rtlCol="0">
            <a:spAutoFit/>
          </a:bodyPr>
          <a:lstStyle/>
          <a:p>
            <a:r>
              <a:rPr lang="en-GB" sz="1400" b="1" cap="all" spc="300" dirty="0"/>
              <a:t>WEEK 12: </a:t>
            </a:r>
            <a:r>
              <a:rPr lang="en-GB" dirty="0"/>
              <a:t>JOINS</a:t>
            </a:r>
            <a:endParaRPr lang="en-GB" sz="1400" b="1" cap="all" spc="300" dirty="0"/>
          </a:p>
        </p:txBody>
      </p:sp>
      <p:sp>
        <p:nvSpPr>
          <p:cNvPr id="6" name="TextBox 5">
            <a:extLst>
              <a:ext uri="{FF2B5EF4-FFF2-40B4-BE49-F238E27FC236}">
                <a16:creationId xmlns:a16="http://schemas.microsoft.com/office/drawing/2014/main" id="{EAC96DE3-A5C8-493A-FB13-6829E88BDD9B}"/>
              </a:ext>
            </a:extLst>
          </p:cNvPr>
          <p:cNvSpPr txBox="1"/>
          <p:nvPr/>
        </p:nvSpPr>
        <p:spPr>
          <a:xfrm>
            <a:off x="576649" y="5916804"/>
            <a:ext cx="2626040" cy="369332"/>
          </a:xfrm>
          <a:prstGeom prst="rect">
            <a:avLst/>
          </a:prstGeom>
          <a:noFill/>
        </p:spPr>
        <p:txBody>
          <a:bodyPr wrap="none" rtlCol="0">
            <a:spAutoFit/>
          </a:bodyPr>
          <a:lstStyle/>
          <a:p>
            <a:r>
              <a:rPr lang="en-GB" dirty="0"/>
              <a:t>Lecturer : Dr Ercan Ezin</a:t>
            </a:r>
          </a:p>
        </p:txBody>
      </p:sp>
    </p:spTree>
    <p:extLst>
      <p:ext uri="{BB962C8B-B14F-4D97-AF65-F5344CB8AC3E}">
        <p14:creationId xmlns:p14="http://schemas.microsoft.com/office/powerpoint/2010/main" val="265782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1" name="Rectangle 10">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EC7385-74C1-8445-822A-D868FFA158E2}"/>
              </a:ext>
            </a:extLst>
          </p:cNvPr>
          <p:cNvSpPr>
            <a:spLocks noGrp="1"/>
          </p:cNvSpPr>
          <p:nvPr>
            <p:ph type="title"/>
          </p:nvPr>
        </p:nvSpPr>
        <p:spPr>
          <a:xfrm>
            <a:off x="640080" y="1434438"/>
            <a:ext cx="2983229" cy="2612976"/>
          </a:xfrm>
        </p:spPr>
        <p:txBody>
          <a:bodyPr vert="horz" lIns="91440" tIns="45720" rIns="91440" bIns="45720" rtlCol="0" anchor="t">
            <a:normAutofit/>
          </a:bodyPr>
          <a:lstStyle/>
          <a:p>
            <a:endParaRPr lang="en-US" sz="4400"/>
          </a:p>
        </p:txBody>
      </p:sp>
      <p:pic>
        <p:nvPicPr>
          <p:cNvPr id="4" name="Content Placeholder 3">
            <a:extLst>
              <a:ext uri="{FF2B5EF4-FFF2-40B4-BE49-F238E27FC236}">
                <a16:creationId xmlns:a16="http://schemas.microsoft.com/office/drawing/2014/main" id="{57F67C04-6CC6-724B-63E4-B33FACD53428}"/>
              </a:ext>
            </a:extLst>
          </p:cNvPr>
          <p:cNvPicPr>
            <a:picLocks noGrp="1" noChangeAspect="1"/>
          </p:cNvPicPr>
          <p:nvPr>
            <p:ph idx="1"/>
          </p:nvPr>
        </p:nvPicPr>
        <p:blipFill>
          <a:blip r:embed="rId2"/>
          <a:stretch>
            <a:fillRect/>
          </a:stretch>
        </p:blipFill>
        <p:spPr>
          <a:xfrm>
            <a:off x="3005014" y="266657"/>
            <a:ext cx="5903316" cy="5903316"/>
          </a:xfrm>
          <a:prstGeom prst="rect">
            <a:avLst/>
          </a:prstGeom>
        </p:spPr>
      </p:pic>
      <p:cxnSp>
        <p:nvCxnSpPr>
          <p:cNvPr id="13" name="Straight Connector 12">
            <a:extLst>
              <a:ext uri="{FF2B5EF4-FFF2-40B4-BE49-F238E27FC236}">
                <a16:creationId xmlns:a16="http://schemas.microsoft.com/office/drawing/2014/main" id="{426B4E86-32C4-273A-1ADF-6B44243549D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65893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0F4E1-9299-8B07-3016-9C2E2B22A041}"/>
              </a:ext>
            </a:extLst>
          </p:cNvPr>
          <p:cNvSpPr>
            <a:spLocks noGrp="1"/>
          </p:cNvSpPr>
          <p:nvPr>
            <p:ph type="title"/>
          </p:nvPr>
        </p:nvSpPr>
        <p:spPr/>
        <p:txBody>
          <a:bodyPr/>
          <a:lstStyle/>
          <a:p>
            <a:r>
              <a:rPr lang="en-GB" dirty="0"/>
              <a:t>JOINS</a:t>
            </a:r>
          </a:p>
        </p:txBody>
      </p:sp>
      <p:sp>
        <p:nvSpPr>
          <p:cNvPr id="5" name="Text Placeholder 4">
            <a:extLst>
              <a:ext uri="{FF2B5EF4-FFF2-40B4-BE49-F238E27FC236}">
                <a16:creationId xmlns:a16="http://schemas.microsoft.com/office/drawing/2014/main" id="{D46E6915-7235-3B33-CB58-D142EBF9C579}"/>
              </a:ext>
            </a:extLst>
          </p:cNvPr>
          <p:cNvSpPr>
            <a:spLocks noGrp="1"/>
          </p:cNvSpPr>
          <p:nvPr>
            <p:ph type="body" idx="1"/>
          </p:nvPr>
        </p:nvSpPr>
        <p:spPr>
          <a:xfrm>
            <a:off x="640080" y="5018567"/>
            <a:ext cx="9550295" cy="1073889"/>
          </a:xfrm>
        </p:spPr>
        <p:txBody>
          <a:bodyPr/>
          <a:lstStyle/>
          <a:p>
            <a:r>
              <a:rPr lang="en-GB" dirty="0"/>
              <a:t>INNER JOIN, LEFT JOIN, RIGHT JOIN, FULL OUTER JOIN</a:t>
            </a:r>
          </a:p>
        </p:txBody>
      </p:sp>
    </p:spTree>
    <p:extLst>
      <p:ext uri="{BB962C8B-B14F-4D97-AF65-F5344CB8AC3E}">
        <p14:creationId xmlns:p14="http://schemas.microsoft.com/office/powerpoint/2010/main" val="28276841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7F574-1EA6-8B41-5A7B-7F4D5144DC50}"/>
              </a:ext>
            </a:extLst>
          </p:cNvPr>
          <p:cNvSpPr>
            <a:spLocks noGrp="1"/>
          </p:cNvSpPr>
          <p:nvPr>
            <p:ph type="title"/>
          </p:nvPr>
        </p:nvSpPr>
        <p:spPr>
          <a:xfrm>
            <a:off x="650535" y="407325"/>
            <a:ext cx="10890929" cy="1097280"/>
          </a:xfrm>
        </p:spPr>
        <p:txBody>
          <a:bodyPr/>
          <a:lstStyle/>
          <a:p>
            <a:r>
              <a:rPr lang="en-GB" dirty="0"/>
              <a:t>JOINS</a:t>
            </a:r>
          </a:p>
        </p:txBody>
      </p:sp>
      <p:pic>
        <p:nvPicPr>
          <p:cNvPr id="3" name="Picture 2">
            <a:extLst>
              <a:ext uri="{FF2B5EF4-FFF2-40B4-BE49-F238E27FC236}">
                <a16:creationId xmlns:a16="http://schemas.microsoft.com/office/drawing/2014/main" id="{3101D2AF-1F84-D7DE-D283-3BDD97258B9A}"/>
              </a:ext>
            </a:extLst>
          </p:cNvPr>
          <p:cNvPicPr>
            <a:picLocks noChangeAspect="1"/>
          </p:cNvPicPr>
          <p:nvPr/>
        </p:nvPicPr>
        <p:blipFill>
          <a:blip r:embed="rId2"/>
          <a:stretch>
            <a:fillRect/>
          </a:stretch>
        </p:blipFill>
        <p:spPr>
          <a:xfrm>
            <a:off x="650535" y="1599689"/>
            <a:ext cx="11177258" cy="2822682"/>
          </a:xfrm>
          <a:prstGeom prst="rect">
            <a:avLst/>
          </a:prstGeom>
        </p:spPr>
      </p:pic>
    </p:spTree>
    <p:extLst>
      <p:ext uri="{BB962C8B-B14F-4D97-AF65-F5344CB8AC3E}">
        <p14:creationId xmlns:p14="http://schemas.microsoft.com/office/powerpoint/2010/main" val="39193253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3B7BE-7B13-835A-B6B5-CE014BB884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E1FDF7-ACC5-C482-8E9B-3838B6A1E633}"/>
              </a:ext>
            </a:extLst>
          </p:cNvPr>
          <p:cNvSpPr>
            <a:spLocks noGrp="1"/>
          </p:cNvSpPr>
          <p:nvPr>
            <p:ph type="title"/>
          </p:nvPr>
        </p:nvSpPr>
        <p:spPr>
          <a:xfrm>
            <a:off x="650535" y="407325"/>
            <a:ext cx="10890929" cy="1097280"/>
          </a:xfrm>
        </p:spPr>
        <p:txBody>
          <a:bodyPr/>
          <a:lstStyle/>
          <a:p>
            <a:r>
              <a:rPr lang="en-GB" dirty="0"/>
              <a:t>JOINS</a:t>
            </a:r>
          </a:p>
        </p:txBody>
      </p:sp>
      <p:sp>
        <p:nvSpPr>
          <p:cNvPr id="4" name="TextBox 3">
            <a:extLst>
              <a:ext uri="{FF2B5EF4-FFF2-40B4-BE49-F238E27FC236}">
                <a16:creationId xmlns:a16="http://schemas.microsoft.com/office/drawing/2014/main" id="{EB7F96C3-5EBF-4AFB-0251-01896AA6B114}"/>
              </a:ext>
            </a:extLst>
          </p:cNvPr>
          <p:cNvSpPr txBox="1"/>
          <p:nvPr/>
        </p:nvSpPr>
        <p:spPr>
          <a:xfrm>
            <a:off x="650535" y="1172095"/>
            <a:ext cx="9050418" cy="369332"/>
          </a:xfrm>
          <a:prstGeom prst="rect">
            <a:avLst/>
          </a:prstGeom>
          <a:noFill/>
        </p:spPr>
        <p:txBody>
          <a:bodyPr wrap="square" rtlCol="0">
            <a:spAutoFit/>
          </a:bodyPr>
          <a:lstStyle/>
          <a:p>
            <a:r>
              <a:rPr lang="en-GB" dirty="0"/>
              <a:t>Suppose you have two tables called teams and players: </a:t>
            </a:r>
          </a:p>
        </p:txBody>
      </p:sp>
      <p:sp>
        <p:nvSpPr>
          <p:cNvPr id="5" name="TextBox 4">
            <a:extLst>
              <a:ext uri="{FF2B5EF4-FFF2-40B4-BE49-F238E27FC236}">
                <a16:creationId xmlns:a16="http://schemas.microsoft.com/office/drawing/2014/main" id="{08DEA182-A2EC-C368-05CF-947F2F5AEF12}"/>
              </a:ext>
            </a:extLst>
          </p:cNvPr>
          <p:cNvSpPr txBox="1"/>
          <p:nvPr/>
        </p:nvSpPr>
        <p:spPr>
          <a:xfrm>
            <a:off x="889462" y="2202873"/>
            <a:ext cx="184731" cy="369332"/>
          </a:xfrm>
          <a:prstGeom prst="rect">
            <a:avLst/>
          </a:prstGeom>
          <a:noFill/>
        </p:spPr>
        <p:txBody>
          <a:bodyPr wrap="none" rtlCol="0">
            <a:spAutoFit/>
          </a:bodyPr>
          <a:lstStyle/>
          <a:p>
            <a:endParaRPr lang="en-GB" dirty="0"/>
          </a:p>
        </p:txBody>
      </p:sp>
      <p:pic>
        <p:nvPicPr>
          <p:cNvPr id="8" name="Picture 7">
            <a:extLst>
              <a:ext uri="{FF2B5EF4-FFF2-40B4-BE49-F238E27FC236}">
                <a16:creationId xmlns:a16="http://schemas.microsoft.com/office/drawing/2014/main" id="{E23B14BB-F8E6-762C-FB26-D28A2EBE6E72}"/>
              </a:ext>
            </a:extLst>
          </p:cNvPr>
          <p:cNvPicPr>
            <a:picLocks noChangeAspect="1"/>
          </p:cNvPicPr>
          <p:nvPr/>
        </p:nvPicPr>
        <p:blipFill>
          <a:blip r:embed="rId2"/>
          <a:stretch>
            <a:fillRect/>
          </a:stretch>
        </p:blipFill>
        <p:spPr>
          <a:xfrm>
            <a:off x="650535" y="1886181"/>
            <a:ext cx="4191000" cy="3517900"/>
          </a:xfrm>
          <a:prstGeom prst="rect">
            <a:avLst/>
          </a:prstGeom>
        </p:spPr>
      </p:pic>
      <p:pic>
        <p:nvPicPr>
          <p:cNvPr id="9" name="Picture 8">
            <a:extLst>
              <a:ext uri="{FF2B5EF4-FFF2-40B4-BE49-F238E27FC236}">
                <a16:creationId xmlns:a16="http://schemas.microsoft.com/office/drawing/2014/main" id="{76E8528D-3092-31DE-3926-3A034A22AD51}"/>
              </a:ext>
            </a:extLst>
          </p:cNvPr>
          <p:cNvPicPr>
            <a:picLocks noChangeAspect="1"/>
          </p:cNvPicPr>
          <p:nvPr/>
        </p:nvPicPr>
        <p:blipFill>
          <a:blip r:embed="rId3"/>
          <a:stretch>
            <a:fillRect/>
          </a:stretch>
        </p:blipFill>
        <p:spPr>
          <a:xfrm>
            <a:off x="5835650" y="1740131"/>
            <a:ext cx="5092700" cy="3810000"/>
          </a:xfrm>
          <a:prstGeom prst="rect">
            <a:avLst/>
          </a:prstGeom>
        </p:spPr>
      </p:pic>
      <p:sp>
        <p:nvSpPr>
          <p:cNvPr id="10" name="TextBox 9">
            <a:extLst>
              <a:ext uri="{FF2B5EF4-FFF2-40B4-BE49-F238E27FC236}">
                <a16:creationId xmlns:a16="http://schemas.microsoft.com/office/drawing/2014/main" id="{7A30EB07-CCB7-EA2F-0C24-11E5A59107B4}"/>
              </a:ext>
            </a:extLst>
          </p:cNvPr>
          <p:cNvSpPr txBox="1"/>
          <p:nvPr/>
        </p:nvSpPr>
        <p:spPr>
          <a:xfrm>
            <a:off x="649775" y="6101542"/>
            <a:ext cx="10371750" cy="923330"/>
          </a:xfrm>
          <a:prstGeom prst="rect">
            <a:avLst/>
          </a:prstGeom>
          <a:noFill/>
        </p:spPr>
        <p:txBody>
          <a:bodyPr wrap="none" rtlCol="0">
            <a:spAutoFit/>
          </a:bodyPr>
          <a:lstStyle/>
          <a:p>
            <a:r>
              <a:rPr lang="en-GB" dirty="0"/>
              <a:t>A team can have many players. Some players may not belong to a team yet, so their </a:t>
            </a:r>
            <a:r>
              <a:rPr lang="en-GB" dirty="0" err="1"/>
              <a:t>team_id</a:t>
            </a:r>
            <a:r>
              <a:rPr lang="en-GB" dirty="0"/>
              <a:t> is NULL.</a:t>
            </a:r>
          </a:p>
          <a:p>
            <a:br>
              <a:rPr lang="en-GB" dirty="0"/>
            </a:br>
            <a:endParaRPr lang="en-GB" dirty="0"/>
          </a:p>
        </p:txBody>
      </p:sp>
    </p:spTree>
    <p:extLst>
      <p:ext uri="{BB962C8B-B14F-4D97-AF65-F5344CB8AC3E}">
        <p14:creationId xmlns:p14="http://schemas.microsoft.com/office/powerpoint/2010/main" val="3315518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DA427-9533-8441-556F-F9A6D52C1A5A}"/>
              </a:ext>
            </a:extLst>
          </p:cNvPr>
          <p:cNvSpPr>
            <a:spLocks noGrp="1"/>
          </p:cNvSpPr>
          <p:nvPr>
            <p:ph type="title"/>
          </p:nvPr>
        </p:nvSpPr>
        <p:spPr>
          <a:xfrm>
            <a:off x="650535" y="382387"/>
            <a:ext cx="10890929" cy="1097280"/>
          </a:xfrm>
        </p:spPr>
        <p:txBody>
          <a:bodyPr/>
          <a:lstStyle/>
          <a:p>
            <a:r>
              <a:rPr lang="en-GB" dirty="0"/>
              <a:t>JOINS</a:t>
            </a:r>
          </a:p>
        </p:txBody>
      </p:sp>
      <p:pic>
        <p:nvPicPr>
          <p:cNvPr id="4" name="Picture 3">
            <a:extLst>
              <a:ext uri="{FF2B5EF4-FFF2-40B4-BE49-F238E27FC236}">
                <a16:creationId xmlns:a16="http://schemas.microsoft.com/office/drawing/2014/main" id="{B850AF2A-72E5-D7C6-7A65-C04D5AFF9F13}"/>
              </a:ext>
            </a:extLst>
          </p:cNvPr>
          <p:cNvPicPr>
            <a:picLocks noChangeAspect="1"/>
          </p:cNvPicPr>
          <p:nvPr/>
        </p:nvPicPr>
        <p:blipFill>
          <a:blip r:embed="rId2"/>
          <a:stretch>
            <a:fillRect/>
          </a:stretch>
        </p:blipFill>
        <p:spPr>
          <a:xfrm>
            <a:off x="1074073" y="2151611"/>
            <a:ext cx="2552700" cy="609600"/>
          </a:xfrm>
          <a:prstGeom prst="rect">
            <a:avLst/>
          </a:prstGeom>
        </p:spPr>
      </p:pic>
      <p:pic>
        <p:nvPicPr>
          <p:cNvPr id="5" name="Picture 4">
            <a:extLst>
              <a:ext uri="{FF2B5EF4-FFF2-40B4-BE49-F238E27FC236}">
                <a16:creationId xmlns:a16="http://schemas.microsoft.com/office/drawing/2014/main" id="{61C365F1-17F2-4320-B40C-FEF30A7E8514}"/>
              </a:ext>
            </a:extLst>
          </p:cNvPr>
          <p:cNvPicPr>
            <a:picLocks noChangeAspect="1"/>
          </p:cNvPicPr>
          <p:nvPr/>
        </p:nvPicPr>
        <p:blipFill>
          <a:blip r:embed="rId3"/>
          <a:stretch>
            <a:fillRect/>
          </a:stretch>
        </p:blipFill>
        <p:spPr>
          <a:xfrm>
            <a:off x="1074073" y="2871062"/>
            <a:ext cx="2628900" cy="1993900"/>
          </a:xfrm>
          <a:prstGeom prst="rect">
            <a:avLst/>
          </a:prstGeom>
        </p:spPr>
      </p:pic>
      <p:pic>
        <p:nvPicPr>
          <p:cNvPr id="6" name="Picture 5">
            <a:extLst>
              <a:ext uri="{FF2B5EF4-FFF2-40B4-BE49-F238E27FC236}">
                <a16:creationId xmlns:a16="http://schemas.microsoft.com/office/drawing/2014/main" id="{BE626F11-DD33-2816-D2B7-637F1F4D56B5}"/>
              </a:ext>
            </a:extLst>
          </p:cNvPr>
          <p:cNvPicPr>
            <a:picLocks noChangeAspect="1"/>
          </p:cNvPicPr>
          <p:nvPr/>
        </p:nvPicPr>
        <p:blipFill>
          <a:blip r:embed="rId4"/>
          <a:stretch>
            <a:fillRect/>
          </a:stretch>
        </p:blipFill>
        <p:spPr>
          <a:xfrm>
            <a:off x="6446057" y="2151611"/>
            <a:ext cx="2476500" cy="495300"/>
          </a:xfrm>
          <a:prstGeom prst="rect">
            <a:avLst/>
          </a:prstGeom>
        </p:spPr>
      </p:pic>
      <p:pic>
        <p:nvPicPr>
          <p:cNvPr id="7" name="Picture 6">
            <a:extLst>
              <a:ext uri="{FF2B5EF4-FFF2-40B4-BE49-F238E27FC236}">
                <a16:creationId xmlns:a16="http://schemas.microsoft.com/office/drawing/2014/main" id="{B8577AA1-8135-165A-2B77-B3AA4808A100}"/>
              </a:ext>
            </a:extLst>
          </p:cNvPr>
          <p:cNvPicPr>
            <a:picLocks noChangeAspect="1"/>
          </p:cNvPicPr>
          <p:nvPr/>
        </p:nvPicPr>
        <p:blipFill>
          <a:blip r:embed="rId5"/>
          <a:stretch>
            <a:fillRect/>
          </a:stretch>
        </p:blipFill>
        <p:spPr>
          <a:xfrm>
            <a:off x="6446057" y="2871062"/>
            <a:ext cx="3556000" cy="2298700"/>
          </a:xfrm>
          <a:prstGeom prst="rect">
            <a:avLst/>
          </a:prstGeom>
        </p:spPr>
      </p:pic>
      <p:sp>
        <p:nvSpPr>
          <p:cNvPr id="8" name="TextBox 7">
            <a:extLst>
              <a:ext uri="{FF2B5EF4-FFF2-40B4-BE49-F238E27FC236}">
                <a16:creationId xmlns:a16="http://schemas.microsoft.com/office/drawing/2014/main" id="{3969AEE5-B88A-E570-02BB-0F23BFDD6E41}"/>
              </a:ext>
            </a:extLst>
          </p:cNvPr>
          <p:cNvSpPr txBox="1"/>
          <p:nvPr/>
        </p:nvSpPr>
        <p:spPr>
          <a:xfrm>
            <a:off x="1027400" y="1479667"/>
            <a:ext cx="5351145" cy="369332"/>
          </a:xfrm>
          <a:prstGeom prst="rect">
            <a:avLst/>
          </a:prstGeom>
          <a:noFill/>
        </p:spPr>
        <p:txBody>
          <a:bodyPr wrap="none" rtlCol="0">
            <a:spAutoFit/>
          </a:bodyPr>
          <a:lstStyle/>
          <a:p>
            <a:r>
              <a:rPr lang="en-GB" dirty="0"/>
              <a:t>Currently we have two tables with following values:</a:t>
            </a:r>
          </a:p>
        </p:txBody>
      </p:sp>
    </p:spTree>
    <p:extLst>
      <p:ext uri="{BB962C8B-B14F-4D97-AF65-F5344CB8AC3E}">
        <p14:creationId xmlns:p14="http://schemas.microsoft.com/office/powerpoint/2010/main" val="14144171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95F5B-DF5B-15A3-39CB-D62C39E1A0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421544-D9AB-7AD0-E290-5BDF88FDF141}"/>
              </a:ext>
            </a:extLst>
          </p:cNvPr>
          <p:cNvSpPr>
            <a:spLocks noGrp="1"/>
          </p:cNvSpPr>
          <p:nvPr>
            <p:ph type="title"/>
          </p:nvPr>
        </p:nvSpPr>
        <p:spPr>
          <a:xfrm>
            <a:off x="650535" y="382387"/>
            <a:ext cx="10890929" cy="1097280"/>
          </a:xfrm>
        </p:spPr>
        <p:txBody>
          <a:bodyPr/>
          <a:lstStyle/>
          <a:p>
            <a:r>
              <a:rPr lang="en-GB" dirty="0"/>
              <a:t>INNER JOIN</a:t>
            </a:r>
          </a:p>
        </p:txBody>
      </p:sp>
      <p:pic>
        <p:nvPicPr>
          <p:cNvPr id="3" name="Picture 2">
            <a:extLst>
              <a:ext uri="{FF2B5EF4-FFF2-40B4-BE49-F238E27FC236}">
                <a16:creationId xmlns:a16="http://schemas.microsoft.com/office/drawing/2014/main" id="{87D38C1B-00F0-2247-E23E-5C4D154D3FBF}"/>
              </a:ext>
            </a:extLst>
          </p:cNvPr>
          <p:cNvPicPr>
            <a:picLocks noChangeAspect="1"/>
          </p:cNvPicPr>
          <p:nvPr/>
        </p:nvPicPr>
        <p:blipFill>
          <a:blip r:embed="rId2"/>
          <a:stretch>
            <a:fillRect/>
          </a:stretch>
        </p:blipFill>
        <p:spPr>
          <a:xfrm>
            <a:off x="650534" y="1396986"/>
            <a:ext cx="10969287" cy="5078627"/>
          </a:xfrm>
          <a:prstGeom prst="rect">
            <a:avLst/>
          </a:prstGeom>
        </p:spPr>
      </p:pic>
    </p:spTree>
    <p:extLst>
      <p:ext uri="{BB962C8B-B14F-4D97-AF65-F5344CB8AC3E}">
        <p14:creationId xmlns:p14="http://schemas.microsoft.com/office/powerpoint/2010/main" val="2410148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14392-BC06-CF1A-A21A-071CA2FBCA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CD7A81-0472-41C1-3B05-75C18CF35BDA}"/>
              </a:ext>
            </a:extLst>
          </p:cNvPr>
          <p:cNvSpPr>
            <a:spLocks noGrp="1"/>
          </p:cNvSpPr>
          <p:nvPr>
            <p:ph type="title"/>
          </p:nvPr>
        </p:nvSpPr>
        <p:spPr>
          <a:xfrm>
            <a:off x="650535" y="382387"/>
            <a:ext cx="10890929" cy="1097280"/>
          </a:xfrm>
        </p:spPr>
        <p:txBody>
          <a:bodyPr/>
          <a:lstStyle/>
          <a:p>
            <a:r>
              <a:rPr lang="en-GB" dirty="0"/>
              <a:t>INNER JOIN</a:t>
            </a:r>
          </a:p>
        </p:txBody>
      </p:sp>
      <p:pic>
        <p:nvPicPr>
          <p:cNvPr id="3" name="Picture 2">
            <a:extLst>
              <a:ext uri="{FF2B5EF4-FFF2-40B4-BE49-F238E27FC236}">
                <a16:creationId xmlns:a16="http://schemas.microsoft.com/office/drawing/2014/main" id="{E5F4E7A7-9926-41BD-B91D-D57C70C2DA3A}"/>
              </a:ext>
            </a:extLst>
          </p:cNvPr>
          <p:cNvPicPr>
            <a:picLocks noChangeAspect="1"/>
          </p:cNvPicPr>
          <p:nvPr/>
        </p:nvPicPr>
        <p:blipFill>
          <a:blip r:embed="rId3"/>
          <a:stretch>
            <a:fillRect/>
          </a:stretch>
        </p:blipFill>
        <p:spPr>
          <a:xfrm>
            <a:off x="929640" y="1334810"/>
            <a:ext cx="10519356" cy="5016113"/>
          </a:xfrm>
          <a:prstGeom prst="rect">
            <a:avLst/>
          </a:prstGeom>
        </p:spPr>
      </p:pic>
    </p:spTree>
    <p:extLst>
      <p:ext uri="{BB962C8B-B14F-4D97-AF65-F5344CB8AC3E}">
        <p14:creationId xmlns:p14="http://schemas.microsoft.com/office/powerpoint/2010/main" val="8185536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BFFAD-67CF-990E-210A-5007EE61ED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4E1385-270A-1E4C-52AE-7AA9E7C2FA26}"/>
              </a:ext>
            </a:extLst>
          </p:cNvPr>
          <p:cNvSpPr>
            <a:spLocks noGrp="1"/>
          </p:cNvSpPr>
          <p:nvPr>
            <p:ph type="title"/>
          </p:nvPr>
        </p:nvSpPr>
        <p:spPr>
          <a:xfrm>
            <a:off x="650535" y="382387"/>
            <a:ext cx="10890929" cy="1097280"/>
          </a:xfrm>
        </p:spPr>
        <p:txBody>
          <a:bodyPr/>
          <a:lstStyle/>
          <a:p>
            <a:r>
              <a:rPr lang="en-GB" dirty="0"/>
              <a:t>INNER JOIN</a:t>
            </a:r>
          </a:p>
        </p:txBody>
      </p:sp>
      <p:pic>
        <p:nvPicPr>
          <p:cNvPr id="3" name="Picture 2">
            <a:extLst>
              <a:ext uri="{FF2B5EF4-FFF2-40B4-BE49-F238E27FC236}">
                <a16:creationId xmlns:a16="http://schemas.microsoft.com/office/drawing/2014/main" id="{117FC63B-8C0F-0EA8-DEBA-FF0079E7E1E5}"/>
              </a:ext>
            </a:extLst>
          </p:cNvPr>
          <p:cNvPicPr>
            <a:picLocks noChangeAspect="1"/>
          </p:cNvPicPr>
          <p:nvPr/>
        </p:nvPicPr>
        <p:blipFill>
          <a:blip r:embed="rId2"/>
          <a:stretch>
            <a:fillRect/>
          </a:stretch>
        </p:blipFill>
        <p:spPr>
          <a:xfrm>
            <a:off x="1910541" y="1069469"/>
            <a:ext cx="9020695" cy="5322606"/>
          </a:xfrm>
          <a:prstGeom prst="rect">
            <a:avLst/>
          </a:prstGeom>
        </p:spPr>
      </p:pic>
      <p:sp>
        <p:nvSpPr>
          <p:cNvPr id="4" name="TextBox 3">
            <a:extLst>
              <a:ext uri="{FF2B5EF4-FFF2-40B4-BE49-F238E27FC236}">
                <a16:creationId xmlns:a16="http://schemas.microsoft.com/office/drawing/2014/main" id="{2CD02D73-88D0-3C98-9E82-845F36FBA922}"/>
              </a:ext>
            </a:extLst>
          </p:cNvPr>
          <p:cNvSpPr txBox="1"/>
          <p:nvPr/>
        </p:nvSpPr>
        <p:spPr>
          <a:xfrm>
            <a:off x="439190" y="6152447"/>
            <a:ext cx="10257905" cy="646331"/>
          </a:xfrm>
          <a:prstGeom prst="rect">
            <a:avLst/>
          </a:prstGeom>
          <a:noFill/>
        </p:spPr>
        <p:txBody>
          <a:bodyPr wrap="square" rtlCol="0">
            <a:spAutoFit/>
          </a:bodyPr>
          <a:lstStyle/>
          <a:p>
            <a:r>
              <a:rPr lang="en-GB" b="1" dirty="0"/>
              <a:t>NOTE:</a:t>
            </a:r>
            <a:r>
              <a:rPr lang="en-GB" dirty="0"/>
              <a:t> This Venn diagram is a conceptual illustration of the join operation. It does not depict individual row-level matching or Cartesian products.</a:t>
            </a:r>
          </a:p>
        </p:txBody>
      </p:sp>
    </p:spTree>
    <p:extLst>
      <p:ext uri="{BB962C8B-B14F-4D97-AF65-F5344CB8AC3E}">
        <p14:creationId xmlns:p14="http://schemas.microsoft.com/office/powerpoint/2010/main" val="12792261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70752-F73B-56DD-C79D-E0DEF04048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BA8155-EDB0-95C1-21A9-44EB1E7CE25C}"/>
              </a:ext>
            </a:extLst>
          </p:cNvPr>
          <p:cNvSpPr>
            <a:spLocks noGrp="1"/>
          </p:cNvSpPr>
          <p:nvPr>
            <p:ph type="title"/>
          </p:nvPr>
        </p:nvSpPr>
        <p:spPr>
          <a:xfrm>
            <a:off x="650535" y="382387"/>
            <a:ext cx="10890929" cy="1097280"/>
          </a:xfrm>
        </p:spPr>
        <p:txBody>
          <a:bodyPr/>
          <a:lstStyle/>
          <a:p>
            <a:r>
              <a:rPr lang="en-GB" dirty="0"/>
              <a:t>LEFT JOIN</a:t>
            </a:r>
          </a:p>
        </p:txBody>
      </p:sp>
      <p:pic>
        <p:nvPicPr>
          <p:cNvPr id="3" name="Picture 2">
            <a:extLst>
              <a:ext uri="{FF2B5EF4-FFF2-40B4-BE49-F238E27FC236}">
                <a16:creationId xmlns:a16="http://schemas.microsoft.com/office/drawing/2014/main" id="{ADE3554E-FCC2-6F2C-1FD9-8734BBDAAEC6}"/>
              </a:ext>
            </a:extLst>
          </p:cNvPr>
          <p:cNvPicPr>
            <a:picLocks noChangeAspect="1"/>
          </p:cNvPicPr>
          <p:nvPr/>
        </p:nvPicPr>
        <p:blipFill>
          <a:blip r:embed="rId2"/>
          <a:stretch>
            <a:fillRect/>
          </a:stretch>
        </p:blipFill>
        <p:spPr>
          <a:xfrm>
            <a:off x="555566" y="1246210"/>
            <a:ext cx="10895537" cy="5420597"/>
          </a:xfrm>
          <a:prstGeom prst="rect">
            <a:avLst/>
          </a:prstGeom>
        </p:spPr>
      </p:pic>
      <p:pic>
        <p:nvPicPr>
          <p:cNvPr id="4" name="Picture 3">
            <a:extLst>
              <a:ext uri="{FF2B5EF4-FFF2-40B4-BE49-F238E27FC236}">
                <a16:creationId xmlns:a16="http://schemas.microsoft.com/office/drawing/2014/main" id="{B02E2951-64FD-13CB-38CC-84B1922DF7B4}"/>
              </a:ext>
            </a:extLst>
          </p:cNvPr>
          <p:cNvPicPr>
            <a:picLocks noChangeAspect="1"/>
          </p:cNvPicPr>
          <p:nvPr/>
        </p:nvPicPr>
        <p:blipFill>
          <a:blip r:embed="rId3"/>
          <a:stretch>
            <a:fillRect/>
          </a:stretch>
        </p:blipFill>
        <p:spPr>
          <a:xfrm>
            <a:off x="5638685" y="3187931"/>
            <a:ext cx="6184900" cy="2743200"/>
          </a:xfrm>
          <a:prstGeom prst="rect">
            <a:avLst/>
          </a:prstGeom>
        </p:spPr>
      </p:pic>
      <p:sp>
        <p:nvSpPr>
          <p:cNvPr id="5" name="Right Arrow 4">
            <a:extLst>
              <a:ext uri="{FF2B5EF4-FFF2-40B4-BE49-F238E27FC236}">
                <a16:creationId xmlns:a16="http://schemas.microsoft.com/office/drawing/2014/main" id="{704836F3-126F-91CC-FB69-836C2FD5777F}"/>
              </a:ext>
            </a:extLst>
          </p:cNvPr>
          <p:cNvSpPr/>
          <p:nvPr/>
        </p:nvSpPr>
        <p:spPr>
          <a:xfrm>
            <a:off x="5020887" y="4330931"/>
            <a:ext cx="698269" cy="37407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3269223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AB0B8-0E1E-E1E4-281D-07E7663A98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668D0B-F8B0-DCAC-1334-D3D3AB2EF50C}"/>
              </a:ext>
            </a:extLst>
          </p:cNvPr>
          <p:cNvSpPr>
            <a:spLocks noGrp="1"/>
          </p:cNvSpPr>
          <p:nvPr>
            <p:ph type="title"/>
          </p:nvPr>
        </p:nvSpPr>
        <p:spPr>
          <a:xfrm>
            <a:off x="650535" y="382387"/>
            <a:ext cx="10890929" cy="1097280"/>
          </a:xfrm>
        </p:spPr>
        <p:txBody>
          <a:bodyPr/>
          <a:lstStyle/>
          <a:p>
            <a:r>
              <a:rPr lang="en-GB" dirty="0"/>
              <a:t>LEFT JOIN</a:t>
            </a:r>
          </a:p>
        </p:txBody>
      </p:sp>
      <p:pic>
        <p:nvPicPr>
          <p:cNvPr id="6" name="Picture 5">
            <a:extLst>
              <a:ext uri="{FF2B5EF4-FFF2-40B4-BE49-F238E27FC236}">
                <a16:creationId xmlns:a16="http://schemas.microsoft.com/office/drawing/2014/main" id="{D1BC6677-FA8E-7343-406F-B801F2520681}"/>
              </a:ext>
            </a:extLst>
          </p:cNvPr>
          <p:cNvPicPr>
            <a:picLocks noChangeAspect="1"/>
          </p:cNvPicPr>
          <p:nvPr/>
        </p:nvPicPr>
        <p:blipFill>
          <a:blip r:embed="rId2"/>
          <a:stretch>
            <a:fillRect/>
          </a:stretch>
        </p:blipFill>
        <p:spPr>
          <a:xfrm>
            <a:off x="650535" y="1657306"/>
            <a:ext cx="11364770" cy="3543387"/>
          </a:xfrm>
          <a:prstGeom prst="rect">
            <a:avLst/>
          </a:prstGeom>
        </p:spPr>
      </p:pic>
      <p:sp>
        <p:nvSpPr>
          <p:cNvPr id="7" name="5-point Star 6">
            <a:extLst>
              <a:ext uri="{FF2B5EF4-FFF2-40B4-BE49-F238E27FC236}">
                <a16:creationId xmlns:a16="http://schemas.microsoft.com/office/drawing/2014/main" id="{38A22746-6EE5-2F3E-084F-A93EA4BC3A81}"/>
              </a:ext>
            </a:extLst>
          </p:cNvPr>
          <p:cNvSpPr/>
          <p:nvPr/>
        </p:nvSpPr>
        <p:spPr>
          <a:xfrm>
            <a:off x="416706" y="1761531"/>
            <a:ext cx="234899" cy="249382"/>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5-point Star 7">
            <a:extLst>
              <a:ext uri="{FF2B5EF4-FFF2-40B4-BE49-F238E27FC236}">
                <a16:creationId xmlns:a16="http://schemas.microsoft.com/office/drawing/2014/main" id="{32133D5A-BAC9-DAAF-D8B3-B415042B6AC3}"/>
              </a:ext>
            </a:extLst>
          </p:cNvPr>
          <p:cNvSpPr/>
          <p:nvPr/>
        </p:nvSpPr>
        <p:spPr>
          <a:xfrm>
            <a:off x="415636" y="2874668"/>
            <a:ext cx="234899" cy="249382"/>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5-point Star 8">
            <a:extLst>
              <a:ext uri="{FF2B5EF4-FFF2-40B4-BE49-F238E27FC236}">
                <a16:creationId xmlns:a16="http://schemas.microsoft.com/office/drawing/2014/main" id="{F2626EC7-A601-8EC6-23B0-BD2661C7467D}"/>
              </a:ext>
            </a:extLst>
          </p:cNvPr>
          <p:cNvSpPr/>
          <p:nvPr/>
        </p:nvSpPr>
        <p:spPr>
          <a:xfrm>
            <a:off x="415636" y="3987805"/>
            <a:ext cx="234899" cy="249382"/>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390192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301DE-F9F9-2B18-F922-EB9631D107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3B42EC-CADD-CC09-F553-050EDD8E7A70}"/>
              </a:ext>
            </a:extLst>
          </p:cNvPr>
          <p:cNvSpPr>
            <a:spLocks noGrp="1"/>
          </p:cNvSpPr>
          <p:nvPr>
            <p:ph type="title"/>
          </p:nvPr>
        </p:nvSpPr>
        <p:spPr>
          <a:xfrm>
            <a:off x="650535" y="382387"/>
            <a:ext cx="10890929" cy="1097280"/>
          </a:xfrm>
        </p:spPr>
        <p:txBody>
          <a:bodyPr/>
          <a:lstStyle/>
          <a:p>
            <a:r>
              <a:rPr lang="en-GB" dirty="0"/>
              <a:t>LEFT JOIN</a:t>
            </a:r>
          </a:p>
        </p:txBody>
      </p:sp>
      <p:pic>
        <p:nvPicPr>
          <p:cNvPr id="3" name="Picture 2">
            <a:extLst>
              <a:ext uri="{FF2B5EF4-FFF2-40B4-BE49-F238E27FC236}">
                <a16:creationId xmlns:a16="http://schemas.microsoft.com/office/drawing/2014/main" id="{66250B74-7B41-2E76-479D-C881535778E0}"/>
              </a:ext>
            </a:extLst>
          </p:cNvPr>
          <p:cNvPicPr>
            <a:picLocks noChangeAspect="1"/>
          </p:cNvPicPr>
          <p:nvPr/>
        </p:nvPicPr>
        <p:blipFill>
          <a:blip r:embed="rId2"/>
          <a:stretch>
            <a:fillRect/>
          </a:stretch>
        </p:blipFill>
        <p:spPr>
          <a:xfrm>
            <a:off x="763385" y="1284013"/>
            <a:ext cx="10359043" cy="5496085"/>
          </a:xfrm>
          <a:prstGeom prst="rect">
            <a:avLst/>
          </a:prstGeom>
        </p:spPr>
      </p:pic>
    </p:spTree>
    <p:extLst>
      <p:ext uri="{BB962C8B-B14F-4D97-AF65-F5344CB8AC3E}">
        <p14:creationId xmlns:p14="http://schemas.microsoft.com/office/powerpoint/2010/main" val="23318191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9A38D-F392-D5F0-7F41-B05D0AE5EE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9D58A8-4A26-CE6A-2D63-B7A57B8980FD}"/>
              </a:ext>
            </a:extLst>
          </p:cNvPr>
          <p:cNvSpPr>
            <a:spLocks noGrp="1"/>
          </p:cNvSpPr>
          <p:nvPr>
            <p:ph type="title"/>
          </p:nvPr>
        </p:nvSpPr>
        <p:spPr>
          <a:xfrm>
            <a:off x="650535" y="382387"/>
            <a:ext cx="10890929" cy="1097280"/>
          </a:xfrm>
        </p:spPr>
        <p:txBody>
          <a:bodyPr/>
          <a:lstStyle/>
          <a:p>
            <a:r>
              <a:rPr lang="en-GB" dirty="0"/>
              <a:t>LEFT JOIN</a:t>
            </a:r>
          </a:p>
        </p:txBody>
      </p:sp>
      <p:pic>
        <p:nvPicPr>
          <p:cNvPr id="3" name="Picture 2">
            <a:extLst>
              <a:ext uri="{FF2B5EF4-FFF2-40B4-BE49-F238E27FC236}">
                <a16:creationId xmlns:a16="http://schemas.microsoft.com/office/drawing/2014/main" id="{16487C4D-C812-F5BF-C3C8-69FC0EFFC69D}"/>
              </a:ext>
            </a:extLst>
          </p:cNvPr>
          <p:cNvPicPr>
            <a:picLocks noChangeAspect="1"/>
          </p:cNvPicPr>
          <p:nvPr/>
        </p:nvPicPr>
        <p:blipFill>
          <a:blip r:embed="rId2"/>
          <a:stretch>
            <a:fillRect/>
          </a:stretch>
        </p:blipFill>
        <p:spPr>
          <a:xfrm>
            <a:off x="721821" y="1303417"/>
            <a:ext cx="10923117" cy="5296888"/>
          </a:xfrm>
          <a:prstGeom prst="rect">
            <a:avLst/>
          </a:prstGeom>
        </p:spPr>
      </p:pic>
      <p:pic>
        <p:nvPicPr>
          <p:cNvPr id="4" name="Picture 3">
            <a:extLst>
              <a:ext uri="{FF2B5EF4-FFF2-40B4-BE49-F238E27FC236}">
                <a16:creationId xmlns:a16="http://schemas.microsoft.com/office/drawing/2014/main" id="{8AB9AC62-71FF-442C-CE35-A2F535A45131}"/>
              </a:ext>
            </a:extLst>
          </p:cNvPr>
          <p:cNvPicPr>
            <a:picLocks noChangeAspect="1"/>
          </p:cNvPicPr>
          <p:nvPr/>
        </p:nvPicPr>
        <p:blipFill>
          <a:blip r:embed="rId3"/>
          <a:stretch>
            <a:fillRect/>
          </a:stretch>
        </p:blipFill>
        <p:spPr>
          <a:xfrm>
            <a:off x="5212708" y="2790998"/>
            <a:ext cx="6979292" cy="3161209"/>
          </a:xfrm>
          <a:prstGeom prst="rect">
            <a:avLst/>
          </a:prstGeom>
          <a:noFill/>
          <a:ln cap="rnd">
            <a:solidFill>
              <a:schemeClr val="accent1"/>
            </a:solidFill>
          </a:ln>
        </p:spPr>
      </p:pic>
      <p:sp>
        <p:nvSpPr>
          <p:cNvPr id="5" name="Right Arrow 4">
            <a:extLst>
              <a:ext uri="{FF2B5EF4-FFF2-40B4-BE49-F238E27FC236}">
                <a16:creationId xmlns:a16="http://schemas.microsoft.com/office/drawing/2014/main" id="{8D11B8CE-DC78-F0E4-E4AB-DC86BC4FC7CF}"/>
              </a:ext>
            </a:extLst>
          </p:cNvPr>
          <p:cNvSpPr/>
          <p:nvPr/>
        </p:nvSpPr>
        <p:spPr>
          <a:xfrm>
            <a:off x="4592548" y="3951861"/>
            <a:ext cx="544531" cy="41974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436751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BE470-9A0B-1227-AAA4-E92E770000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29EB72-4140-AFE3-8329-0C1A164E7BA4}"/>
              </a:ext>
            </a:extLst>
          </p:cNvPr>
          <p:cNvSpPr>
            <a:spLocks noGrp="1"/>
          </p:cNvSpPr>
          <p:nvPr>
            <p:ph type="title"/>
          </p:nvPr>
        </p:nvSpPr>
        <p:spPr>
          <a:xfrm>
            <a:off x="650535" y="382387"/>
            <a:ext cx="10890929" cy="1097280"/>
          </a:xfrm>
        </p:spPr>
        <p:txBody>
          <a:bodyPr/>
          <a:lstStyle/>
          <a:p>
            <a:r>
              <a:rPr lang="en-GB" dirty="0"/>
              <a:t>LEFT ANTI JOIN</a:t>
            </a:r>
          </a:p>
        </p:txBody>
      </p:sp>
      <p:pic>
        <p:nvPicPr>
          <p:cNvPr id="4" name="Picture 3">
            <a:extLst>
              <a:ext uri="{FF2B5EF4-FFF2-40B4-BE49-F238E27FC236}">
                <a16:creationId xmlns:a16="http://schemas.microsoft.com/office/drawing/2014/main" id="{56FD7861-3DF8-74F4-86E9-537C454C7ABE}"/>
              </a:ext>
            </a:extLst>
          </p:cNvPr>
          <p:cNvPicPr>
            <a:picLocks noChangeAspect="1"/>
          </p:cNvPicPr>
          <p:nvPr/>
        </p:nvPicPr>
        <p:blipFill>
          <a:blip r:embed="rId2"/>
          <a:stretch>
            <a:fillRect/>
          </a:stretch>
        </p:blipFill>
        <p:spPr>
          <a:xfrm>
            <a:off x="750869" y="1261055"/>
            <a:ext cx="9805272" cy="5314406"/>
          </a:xfrm>
          <a:prstGeom prst="rect">
            <a:avLst/>
          </a:prstGeom>
        </p:spPr>
      </p:pic>
    </p:spTree>
    <p:extLst>
      <p:ext uri="{BB962C8B-B14F-4D97-AF65-F5344CB8AC3E}">
        <p14:creationId xmlns:p14="http://schemas.microsoft.com/office/powerpoint/2010/main" val="5316092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F9586-BCE7-6C71-93D9-2B118D373B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131F2C-3C5E-EA73-FCD7-D459B0A54147}"/>
              </a:ext>
            </a:extLst>
          </p:cNvPr>
          <p:cNvSpPr>
            <a:spLocks noGrp="1"/>
          </p:cNvSpPr>
          <p:nvPr>
            <p:ph type="title"/>
          </p:nvPr>
        </p:nvSpPr>
        <p:spPr>
          <a:xfrm>
            <a:off x="650535" y="8054"/>
            <a:ext cx="10890929" cy="1097280"/>
          </a:xfrm>
        </p:spPr>
        <p:txBody>
          <a:bodyPr/>
          <a:lstStyle/>
          <a:p>
            <a:r>
              <a:rPr lang="en-GB" dirty="0"/>
              <a:t>EXAMPLE JOIN QUERIES- Table creations</a:t>
            </a:r>
          </a:p>
        </p:txBody>
      </p:sp>
      <p:sp>
        <p:nvSpPr>
          <p:cNvPr id="4" name="TextBox 3">
            <a:extLst>
              <a:ext uri="{FF2B5EF4-FFF2-40B4-BE49-F238E27FC236}">
                <a16:creationId xmlns:a16="http://schemas.microsoft.com/office/drawing/2014/main" id="{D64FE09E-AD24-31C3-5755-E148BECB7F9F}"/>
              </a:ext>
            </a:extLst>
          </p:cNvPr>
          <p:cNvSpPr txBox="1"/>
          <p:nvPr/>
        </p:nvSpPr>
        <p:spPr>
          <a:xfrm>
            <a:off x="527272" y="751344"/>
            <a:ext cx="5716365" cy="6586418"/>
          </a:xfrm>
          <a:prstGeom prst="rect">
            <a:avLst/>
          </a:prstGeom>
          <a:noFill/>
        </p:spPr>
        <p:txBody>
          <a:bodyPr wrap="square">
            <a:spAutoFit/>
          </a:bodyPr>
          <a:lstStyle/>
          <a:p>
            <a:endParaRPr lang="en-GB" sz="1600" dirty="0"/>
          </a:p>
          <a:p>
            <a:r>
              <a:rPr lang="en-GB" sz="1600" dirty="0"/>
              <a:t>-- Cleanup for clean execution</a:t>
            </a:r>
          </a:p>
          <a:p>
            <a:r>
              <a:rPr lang="en-GB" sz="1600" dirty="0"/>
              <a:t>DROP TABLE IF EXISTS </a:t>
            </a:r>
            <a:r>
              <a:rPr lang="en-GB" sz="1600" dirty="0" err="1"/>
              <a:t>lab_logs</a:t>
            </a:r>
            <a:r>
              <a:rPr lang="en-GB" sz="1600" dirty="0"/>
              <a:t>;</a:t>
            </a:r>
          </a:p>
          <a:p>
            <a:r>
              <a:rPr lang="en-GB" sz="1600" dirty="0"/>
              <a:t>DROP TABLE IF EXISTS students;</a:t>
            </a:r>
          </a:p>
          <a:p>
            <a:r>
              <a:rPr lang="en-GB" sz="1600" dirty="0"/>
              <a:t>DROP TABLE IF EXISTS departments;</a:t>
            </a:r>
          </a:p>
          <a:p>
            <a:endParaRPr lang="en-GB" sz="1600" dirty="0"/>
          </a:p>
          <a:p>
            <a:r>
              <a:rPr lang="en-GB" sz="1600" dirty="0"/>
              <a:t>-- Create Tables</a:t>
            </a:r>
          </a:p>
          <a:p>
            <a:r>
              <a:rPr lang="en-GB" sz="1600" dirty="0"/>
              <a:t>CREATE TABLE departments (</a:t>
            </a:r>
          </a:p>
          <a:p>
            <a:r>
              <a:rPr lang="en-GB" sz="1600" dirty="0"/>
              <a:t>    </a:t>
            </a:r>
            <a:r>
              <a:rPr lang="en-GB" sz="1600" dirty="0" err="1"/>
              <a:t>dept_id</a:t>
            </a:r>
            <a:r>
              <a:rPr lang="en-GB" sz="1600" dirty="0"/>
              <a:t> SERIAL PRIMARY KEY,</a:t>
            </a:r>
          </a:p>
          <a:p>
            <a:r>
              <a:rPr lang="en-GB" sz="1600" dirty="0"/>
              <a:t>    </a:t>
            </a:r>
            <a:r>
              <a:rPr lang="en-GB" sz="1600" dirty="0" err="1"/>
              <a:t>dept_name</a:t>
            </a:r>
            <a:r>
              <a:rPr lang="en-GB" sz="1600" dirty="0"/>
              <a:t> VARCHAR(50) NOT NULL</a:t>
            </a:r>
          </a:p>
          <a:p>
            <a:r>
              <a:rPr lang="en-GB" sz="1600" dirty="0"/>
              <a:t>);</a:t>
            </a:r>
          </a:p>
          <a:p>
            <a:endParaRPr lang="en-GB" sz="1600" dirty="0"/>
          </a:p>
          <a:p>
            <a:r>
              <a:rPr lang="en-GB" sz="1600" dirty="0"/>
              <a:t>CREATE TABLE students (</a:t>
            </a:r>
          </a:p>
          <a:p>
            <a:r>
              <a:rPr lang="en-GB" sz="1600" dirty="0"/>
              <a:t>    </a:t>
            </a:r>
            <a:r>
              <a:rPr lang="en-GB" sz="1600" dirty="0" err="1"/>
              <a:t>student_id</a:t>
            </a:r>
            <a:r>
              <a:rPr lang="en-GB" sz="1600" dirty="0"/>
              <a:t> SERIAL PRIMARY KEY,</a:t>
            </a:r>
          </a:p>
          <a:p>
            <a:r>
              <a:rPr lang="en-GB" sz="1600" dirty="0"/>
              <a:t>    </a:t>
            </a:r>
            <a:r>
              <a:rPr lang="en-GB" sz="1600" dirty="0" err="1"/>
              <a:t>full_name</a:t>
            </a:r>
            <a:r>
              <a:rPr lang="en-GB" sz="1600" dirty="0"/>
              <a:t> VARCHAR(100) NOT NULL,</a:t>
            </a:r>
          </a:p>
          <a:p>
            <a:r>
              <a:rPr lang="en-GB" sz="1600" dirty="0"/>
              <a:t>    </a:t>
            </a:r>
            <a:r>
              <a:rPr lang="en-GB" sz="1600" dirty="0" err="1"/>
              <a:t>dept_id</a:t>
            </a:r>
            <a:r>
              <a:rPr lang="en-GB" sz="1600" dirty="0"/>
              <a:t> INT REFERENCES departments(</a:t>
            </a:r>
            <a:r>
              <a:rPr lang="en-GB" sz="1600" dirty="0" err="1"/>
              <a:t>dept_id</a:t>
            </a:r>
            <a:r>
              <a:rPr lang="en-GB" sz="1600" dirty="0"/>
              <a:t>),</a:t>
            </a:r>
          </a:p>
          <a:p>
            <a:r>
              <a:rPr lang="en-GB" sz="1600" dirty="0"/>
              <a:t>    </a:t>
            </a:r>
            <a:r>
              <a:rPr lang="en-GB" sz="1600" dirty="0" err="1"/>
              <a:t>enrollment_year</a:t>
            </a:r>
            <a:r>
              <a:rPr lang="en-GB" sz="1600" dirty="0"/>
              <a:t> INT NOT NULL</a:t>
            </a:r>
          </a:p>
          <a:p>
            <a:r>
              <a:rPr lang="en-GB" sz="1600" dirty="0"/>
              <a:t>);</a:t>
            </a:r>
          </a:p>
          <a:p>
            <a:r>
              <a:rPr lang="en-GB" sz="1600" dirty="0"/>
              <a:t>CREATE TABLE </a:t>
            </a:r>
            <a:r>
              <a:rPr lang="en-GB" sz="1600" dirty="0" err="1"/>
              <a:t>lab_logs</a:t>
            </a:r>
            <a:r>
              <a:rPr lang="en-GB" sz="1600" dirty="0"/>
              <a:t> (</a:t>
            </a:r>
          </a:p>
          <a:p>
            <a:r>
              <a:rPr lang="en-GB" sz="1600" dirty="0"/>
              <a:t>    </a:t>
            </a:r>
            <a:r>
              <a:rPr lang="en-GB" sz="1600" dirty="0" err="1"/>
              <a:t>log_id</a:t>
            </a:r>
            <a:r>
              <a:rPr lang="en-GB" sz="1600" dirty="0"/>
              <a:t> SERIAL PRIMARY KEY,</a:t>
            </a:r>
          </a:p>
          <a:p>
            <a:r>
              <a:rPr lang="en-GB" sz="1600" dirty="0"/>
              <a:t>    </a:t>
            </a:r>
            <a:r>
              <a:rPr lang="en-GB" sz="1600" dirty="0" err="1"/>
              <a:t>student_id</a:t>
            </a:r>
            <a:r>
              <a:rPr lang="en-GB" sz="1600" dirty="0"/>
              <a:t> INT REFERENCES students(</a:t>
            </a:r>
            <a:r>
              <a:rPr lang="en-GB" sz="1600" dirty="0" err="1"/>
              <a:t>student_id</a:t>
            </a:r>
            <a:r>
              <a:rPr lang="en-GB" sz="1600" dirty="0"/>
              <a:t>),</a:t>
            </a:r>
          </a:p>
          <a:p>
            <a:r>
              <a:rPr lang="en-GB" sz="1600" dirty="0"/>
              <a:t>    </a:t>
            </a:r>
            <a:r>
              <a:rPr lang="en-GB" sz="1600" dirty="0" err="1"/>
              <a:t>room_code</a:t>
            </a:r>
            <a:r>
              <a:rPr lang="en-GB" sz="1600" dirty="0"/>
              <a:t> VARCHAR(10),</a:t>
            </a:r>
          </a:p>
          <a:p>
            <a:r>
              <a:rPr lang="en-GB" sz="1600" dirty="0"/>
              <a:t>    </a:t>
            </a:r>
            <a:r>
              <a:rPr lang="en-GB" sz="1600" dirty="0" err="1"/>
              <a:t>entry_time</a:t>
            </a:r>
            <a:r>
              <a:rPr lang="en-GB" sz="1600" dirty="0"/>
              <a:t> TIMESTAMP DEFAULT CURRENT_TIMESTAMP</a:t>
            </a:r>
          </a:p>
          <a:p>
            <a:r>
              <a:rPr lang="en-GB" sz="1600" dirty="0"/>
              <a:t>);</a:t>
            </a:r>
          </a:p>
          <a:p>
            <a:endParaRPr lang="en-GB" sz="1600" dirty="0"/>
          </a:p>
          <a:p>
            <a:endParaRPr lang="en-GB" sz="1600" dirty="0"/>
          </a:p>
        </p:txBody>
      </p:sp>
      <p:sp>
        <p:nvSpPr>
          <p:cNvPr id="6" name="TextBox 5">
            <a:extLst>
              <a:ext uri="{FF2B5EF4-FFF2-40B4-BE49-F238E27FC236}">
                <a16:creationId xmlns:a16="http://schemas.microsoft.com/office/drawing/2014/main" id="{B1726A3F-69F6-BE06-BD4B-604B238C4CBD}"/>
              </a:ext>
            </a:extLst>
          </p:cNvPr>
          <p:cNvSpPr txBox="1"/>
          <p:nvPr/>
        </p:nvSpPr>
        <p:spPr>
          <a:xfrm>
            <a:off x="5728351" y="1136647"/>
            <a:ext cx="6328399" cy="4955203"/>
          </a:xfrm>
          <a:prstGeom prst="rect">
            <a:avLst/>
          </a:prstGeom>
          <a:noFill/>
        </p:spPr>
        <p:txBody>
          <a:bodyPr wrap="square">
            <a:spAutoFit/>
          </a:bodyPr>
          <a:lstStyle/>
          <a:p>
            <a:endParaRPr lang="en-GB" sz="1600" dirty="0"/>
          </a:p>
          <a:p>
            <a:r>
              <a:rPr lang="en-GB" sz="1600" dirty="0"/>
              <a:t>-- Insert English Data</a:t>
            </a:r>
          </a:p>
          <a:p>
            <a:r>
              <a:rPr lang="en-GB" sz="1600" dirty="0"/>
              <a:t>INSERT INTO departments (</a:t>
            </a:r>
            <a:r>
              <a:rPr lang="en-GB" sz="1600" dirty="0" err="1"/>
              <a:t>dept_name</a:t>
            </a:r>
            <a:r>
              <a:rPr lang="en-GB" sz="1600" dirty="0"/>
              <a:t>) VALUES </a:t>
            </a:r>
          </a:p>
          <a:p>
            <a:r>
              <a:rPr lang="en-GB" sz="1600" dirty="0"/>
              <a:t>('Industrial Engineering'), </a:t>
            </a:r>
          </a:p>
          <a:p>
            <a:r>
              <a:rPr lang="en-GB" sz="1600" dirty="0"/>
              <a:t>('Systems Management'), </a:t>
            </a:r>
          </a:p>
          <a:p>
            <a:r>
              <a:rPr lang="en-GB" sz="1600" dirty="0"/>
              <a:t>('Data Science'),</a:t>
            </a:r>
          </a:p>
          <a:p>
            <a:r>
              <a:rPr lang="en-GB" sz="1600" dirty="0"/>
              <a:t>('Unused Department'); -- For testing RIGHT/FULL JOINs</a:t>
            </a:r>
          </a:p>
          <a:p>
            <a:endParaRPr lang="en-GB" sz="1600" dirty="0"/>
          </a:p>
          <a:p>
            <a:r>
              <a:rPr lang="en-GB" sz="1600" dirty="0"/>
              <a:t>INSERT INTO students (</a:t>
            </a:r>
            <a:r>
              <a:rPr lang="en-GB" sz="1600" dirty="0" err="1"/>
              <a:t>full_name</a:t>
            </a:r>
            <a:r>
              <a:rPr lang="en-GB" sz="1600" dirty="0"/>
              <a:t>, </a:t>
            </a:r>
            <a:r>
              <a:rPr lang="en-GB" sz="1600" dirty="0" err="1"/>
              <a:t>dept_id</a:t>
            </a:r>
            <a:r>
              <a:rPr lang="en-GB" sz="1600" dirty="0"/>
              <a:t>, </a:t>
            </a:r>
            <a:r>
              <a:rPr lang="en-GB" sz="1600" dirty="0" err="1"/>
              <a:t>enrollment_year</a:t>
            </a:r>
            <a:r>
              <a:rPr lang="en-GB" sz="1600" dirty="0"/>
              <a:t>) VALUES </a:t>
            </a:r>
          </a:p>
          <a:p>
            <a:r>
              <a:rPr lang="en-GB" sz="1600" dirty="0"/>
              <a:t>('Alice Smith', 1, 2024),</a:t>
            </a:r>
          </a:p>
          <a:p>
            <a:r>
              <a:rPr lang="en-GB" sz="1600" dirty="0"/>
              <a:t>('Bob Johnson', 2, 2023),</a:t>
            </a:r>
          </a:p>
          <a:p>
            <a:r>
              <a:rPr lang="en-GB" sz="1600" dirty="0"/>
              <a:t>('Charlie Davis', 1, 2024),</a:t>
            </a:r>
          </a:p>
          <a:p>
            <a:r>
              <a:rPr lang="en-GB" sz="1600" dirty="0"/>
              <a:t>('Diana Prince', NULL, 2025); -- Student with no department assigned</a:t>
            </a:r>
          </a:p>
          <a:p>
            <a:endParaRPr lang="en-GB" sz="1600" dirty="0"/>
          </a:p>
          <a:p>
            <a:r>
              <a:rPr lang="en-GB" sz="1600" dirty="0"/>
              <a:t>INSERT INTO </a:t>
            </a:r>
            <a:r>
              <a:rPr lang="en-GB" sz="1600" dirty="0" err="1"/>
              <a:t>lab_logs</a:t>
            </a:r>
            <a:r>
              <a:rPr lang="en-GB" sz="1600" dirty="0"/>
              <a:t> (</a:t>
            </a:r>
            <a:r>
              <a:rPr lang="en-GB" sz="1600" dirty="0" err="1"/>
              <a:t>student_id</a:t>
            </a:r>
            <a:r>
              <a:rPr lang="en-GB" sz="1600" dirty="0"/>
              <a:t>, </a:t>
            </a:r>
            <a:r>
              <a:rPr lang="en-GB" sz="1600" dirty="0" err="1"/>
              <a:t>room_code</a:t>
            </a:r>
            <a:r>
              <a:rPr lang="en-GB" sz="1600" dirty="0"/>
              <a:t>) VALUES </a:t>
            </a:r>
          </a:p>
          <a:p>
            <a:r>
              <a:rPr lang="en-GB" sz="1600" dirty="0"/>
              <a:t>(1, 'LAB-A'), </a:t>
            </a:r>
          </a:p>
          <a:p>
            <a:r>
              <a:rPr lang="en-GB" sz="1600" dirty="0"/>
              <a:t>(1, 'LAB-B'), </a:t>
            </a:r>
          </a:p>
          <a:p>
            <a:r>
              <a:rPr lang="en-GB" sz="1600" dirty="0"/>
              <a:t>(2, 'LAB-A'), </a:t>
            </a:r>
          </a:p>
          <a:p>
            <a:r>
              <a:rPr lang="en-GB" sz="1600" dirty="0"/>
              <a:t>(3, 'LAB-C');</a:t>
            </a:r>
          </a:p>
        </p:txBody>
      </p:sp>
    </p:spTree>
    <p:extLst>
      <p:ext uri="{BB962C8B-B14F-4D97-AF65-F5344CB8AC3E}">
        <p14:creationId xmlns:p14="http://schemas.microsoft.com/office/powerpoint/2010/main" val="15123320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96601-4F2F-EC5F-EF8F-D8F4844786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E2E06F-6C58-6945-F4F9-52CA4D3027B2}"/>
              </a:ext>
            </a:extLst>
          </p:cNvPr>
          <p:cNvSpPr>
            <a:spLocks noGrp="1"/>
          </p:cNvSpPr>
          <p:nvPr>
            <p:ph type="title"/>
          </p:nvPr>
        </p:nvSpPr>
        <p:spPr>
          <a:xfrm>
            <a:off x="650535" y="382387"/>
            <a:ext cx="10890929" cy="1097280"/>
          </a:xfrm>
        </p:spPr>
        <p:txBody>
          <a:bodyPr/>
          <a:lstStyle/>
          <a:p>
            <a:r>
              <a:rPr lang="en-GB" dirty="0"/>
              <a:t>QUESTION-INNER JOIN</a:t>
            </a:r>
          </a:p>
        </p:txBody>
      </p:sp>
      <p:sp>
        <p:nvSpPr>
          <p:cNvPr id="4" name="TextBox 3">
            <a:extLst>
              <a:ext uri="{FF2B5EF4-FFF2-40B4-BE49-F238E27FC236}">
                <a16:creationId xmlns:a16="http://schemas.microsoft.com/office/drawing/2014/main" id="{361E07A2-55E4-84AF-7296-57438DDBBF92}"/>
              </a:ext>
            </a:extLst>
          </p:cNvPr>
          <p:cNvSpPr txBox="1"/>
          <p:nvPr/>
        </p:nvSpPr>
        <p:spPr>
          <a:xfrm>
            <a:off x="650536" y="1962834"/>
            <a:ext cx="9836490" cy="646331"/>
          </a:xfrm>
          <a:prstGeom prst="rect">
            <a:avLst/>
          </a:prstGeom>
          <a:noFill/>
        </p:spPr>
        <p:txBody>
          <a:bodyPr wrap="square">
            <a:spAutoFit/>
          </a:bodyPr>
          <a:lstStyle/>
          <a:p>
            <a:r>
              <a:rPr lang="en-GB" dirty="0">
                <a:solidFill>
                  <a:srgbClr val="00B050"/>
                </a:solidFill>
                <a:latin typeface="Consolas" panose="020B0609020204030204" pitchFamily="49" charset="0"/>
                <a:cs typeface="Consolas" panose="020B0609020204030204" pitchFamily="49" charset="0"/>
              </a:rPr>
              <a:t>SELECT</a:t>
            </a:r>
            <a:r>
              <a:rPr lang="en-GB" dirty="0">
                <a:latin typeface="Consolas" panose="020B0609020204030204" pitchFamily="49" charset="0"/>
                <a:cs typeface="Consolas" panose="020B0609020204030204" pitchFamily="49" charset="0"/>
              </a:rPr>
              <a:t> </a:t>
            </a:r>
            <a:r>
              <a:rPr lang="en-GB" dirty="0" err="1">
                <a:latin typeface="Consolas" panose="020B0609020204030204" pitchFamily="49" charset="0"/>
                <a:cs typeface="Consolas" panose="020B0609020204030204" pitchFamily="49" charset="0"/>
              </a:rPr>
              <a:t>s.full_name</a:t>
            </a:r>
            <a:r>
              <a:rPr lang="en-GB" dirty="0">
                <a:latin typeface="Consolas" panose="020B0609020204030204" pitchFamily="49" charset="0"/>
                <a:cs typeface="Consolas" panose="020B0609020204030204" pitchFamily="49" charset="0"/>
              </a:rPr>
              <a:t>, </a:t>
            </a:r>
            <a:r>
              <a:rPr lang="en-GB" dirty="0" err="1">
                <a:latin typeface="Consolas" panose="020B0609020204030204" pitchFamily="49" charset="0"/>
                <a:cs typeface="Consolas" panose="020B0609020204030204" pitchFamily="49" charset="0"/>
              </a:rPr>
              <a:t>d.dept_name</a:t>
            </a:r>
            <a:r>
              <a:rPr lang="en-GB" dirty="0">
                <a:latin typeface="Consolas" panose="020B0609020204030204" pitchFamily="49" charset="0"/>
                <a:cs typeface="Consolas" panose="020B0609020204030204" pitchFamily="49" charset="0"/>
              </a:rPr>
              <a:t> </a:t>
            </a:r>
            <a:r>
              <a:rPr lang="en-GB" dirty="0">
                <a:solidFill>
                  <a:srgbClr val="00B050"/>
                </a:solidFill>
                <a:latin typeface="Consolas" panose="020B0609020204030204" pitchFamily="49" charset="0"/>
                <a:cs typeface="Consolas" panose="020B0609020204030204" pitchFamily="49" charset="0"/>
              </a:rPr>
              <a:t>FROM</a:t>
            </a:r>
            <a:r>
              <a:rPr lang="en-GB" dirty="0">
                <a:latin typeface="Consolas" panose="020B0609020204030204" pitchFamily="49" charset="0"/>
                <a:cs typeface="Consolas" panose="020B0609020204030204" pitchFamily="49" charset="0"/>
              </a:rPr>
              <a:t> students s </a:t>
            </a:r>
            <a:r>
              <a:rPr lang="en-GB" dirty="0">
                <a:solidFill>
                  <a:srgbClr val="00B050"/>
                </a:solidFill>
                <a:latin typeface="Consolas" panose="020B0609020204030204" pitchFamily="49" charset="0"/>
                <a:cs typeface="Consolas" panose="020B0609020204030204" pitchFamily="49" charset="0"/>
              </a:rPr>
              <a:t>INNER</a:t>
            </a:r>
            <a:r>
              <a:rPr lang="en-GB" dirty="0">
                <a:latin typeface="Consolas" panose="020B0609020204030204" pitchFamily="49" charset="0"/>
                <a:cs typeface="Consolas" panose="020B0609020204030204" pitchFamily="49" charset="0"/>
              </a:rPr>
              <a:t> </a:t>
            </a:r>
            <a:r>
              <a:rPr lang="en-GB" dirty="0">
                <a:solidFill>
                  <a:srgbClr val="00B050"/>
                </a:solidFill>
                <a:latin typeface="Consolas" panose="020B0609020204030204" pitchFamily="49" charset="0"/>
                <a:cs typeface="Consolas" panose="020B0609020204030204" pitchFamily="49" charset="0"/>
              </a:rPr>
              <a:t>JOIN</a:t>
            </a:r>
            <a:r>
              <a:rPr lang="en-GB" dirty="0">
                <a:latin typeface="Consolas" panose="020B0609020204030204" pitchFamily="49" charset="0"/>
                <a:cs typeface="Consolas" panose="020B0609020204030204" pitchFamily="49" charset="0"/>
              </a:rPr>
              <a:t> departments d </a:t>
            </a:r>
            <a:r>
              <a:rPr lang="en-GB" dirty="0">
                <a:solidFill>
                  <a:srgbClr val="00B050"/>
                </a:solidFill>
                <a:latin typeface="Consolas" panose="020B0609020204030204" pitchFamily="49" charset="0"/>
                <a:cs typeface="Consolas" panose="020B0609020204030204" pitchFamily="49" charset="0"/>
              </a:rPr>
              <a:t>ON</a:t>
            </a:r>
            <a:r>
              <a:rPr lang="en-GB" dirty="0">
                <a:latin typeface="Consolas" panose="020B0609020204030204" pitchFamily="49" charset="0"/>
                <a:cs typeface="Consolas" panose="020B0609020204030204" pitchFamily="49" charset="0"/>
              </a:rPr>
              <a:t> </a:t>
            </a:r>
            <a:r>
              <a:rPr lang="en-GB" dirty="0" err="1">
                <a:latin typeface="Consolas" panose="020B0609020204030204" pitchFamily="49" charset="0"/>
                <a:cs typeface="Consolas" panose="020B0609020204030204" pitchFamily="49" charset="0"/>
              </a:rPr>
              <a:t>s.dept_id</a:t>
            </a:r>
            <a:r>
              <a:rPr lang="en-GB" dirty="0">
                <a:latin typeface="Consolas" panose="020B0609020204030204" pitchFamily="49" charset="0"/>
                <a:cs typeface="Consolas" panose="020B0609020204030204" pitchFamily="49" charset="0"/>
              </a:rPr>
              <a:t> </a:t>
            </a:r>
            <a:r>
              <a:rPr lang="en-GB" dirty="0">
                <a:solidFill>
                  <a:srgbClr val="00B050"/>
                </a:solidFill>
                <a:latin typeface="Consolas" panose="020B0609020204030204" pitchFamily="49" charset="0"/>
                <a:cs typeface="Consolas" panose="020B0609020204030204" pitchFamily="49" charset="0"/>
              </a:rPr>
              <a:t>=</a:t>
            </a:r>
            <a:r>
              <a:rPr lang="en-GB" dirty="0">
                <a:latin typeface="Consolas" panose="020B0609020204030204" pitchFamily="49" charset="0"/>
                <a:cs typeface="Consolas" panose="020B0609020204030204" pitchFamily="49" charset="0"/>
              </a:rPr>
              <a:t> </a:t>
            </a:r>
            <a:r>
              <a:rPr lang="en-GB" dirty="0" err="1">
                <a:latin typeface="Consolas" panose="020B0609020204030204" pitchFamily="49" charset="0"/>
                <a:cs typeface="Consolas" panose="020B0609020204030204" pitchFamily="49" charset="0"/>
              </a:rPr>
              <a:t>d.dept_id</a:t>
            </a:r>
            <a:r>
              <a:rPr lang="en-GB" dirty="0">
                <a:latin typeface="Consolas" panose="020B0609020204030204" pitchFamily="49" charset="0"/>
                <a:cs typeface="Consolas" panose="020B0609020204030204" pitchFamily="49" charset="0"/>
              </a:rPr>
              <a:t>;</a:t>
            </a:r>
          </a:p>
        </p:txBody>
      </p:sp>
      <p:sp>
        <p:nvSpPr>
          <p:cNvPr id="6" name="TextBox 5">
            <a:extLst>
              <a:ext uri="{FF2B5EF4-FFF2-40B4-BE49-F238E27FC236}">
                <a16:creationId xmlns:a16="http://schemas.microsoft.com/office/drawing/2014/main" id="{5A4FF9AF-A7A6-22E0-7F96-61D27BD8684E}"/>
              </a:ext>
            </a:extLst>
          </p:cNvPr>
          <p:cNvSpPr txBox="1"/>
          <p:nvPr/>
        </p:nvSpPr>
        <p:spPr>
          <a:xfrm>
            <a:off x="650535" y="1336327"/>
            <a:ext cx="6100762" cy="369332"/>
          </a:xfrm>
          <a:prstGeom prst="rect">
            <a:avLst/>
          </a:prstGeom>
          <a:noFill/>
        </p:spPr>
        <p:txBody>
          <a:bodyPr wrap="square">
            <a:spAutoFit/>
          </a:bodyPr>
          <a:lstStyle/>
          <a:p>
            <a:pPr>
              <a:buNone/>
            </a:pPr>
            <a:r>
              <a:rPr lang="en-GB" b="1" dirty="0"/>
              <a:t>Task:</a:t>
            </a:r>
            <a:r>
              <a:rPr lang="en-GB" dirty="0"/>
              <a:t> List all students alongside their department names.</a:t>
            </a:r>
          </a:p>
        </p:txBody>
      </p:sp>
      <p:sp>
        <p:nvSpPr>
          <p:cNvPr id="8" name="TextBox 7">
            <a:extLst>
              <a:ext uri="{FF2B5EF4-FFF2-40B4-BE49-F238E27FC236}">
                <a16:creationId xmlns:a16="http://schemas.microsoft.com/office/drawing/2014/main" id="{5E6E5B6F-D478-4E3F-EFE3-922F959B3D86}"/>
              </a:ext>
            </a:extLst>
          </p:cNvPr>
          <p:cNvSpPr txBox="1"/>
          <p:nvPr/>
        </p:nvSpPr>
        <p:spPr>
          <a:xfrm>
            <a:off x="650535" y="2815333"/>
            <a:ext cx="11541465" cy="369332"/>
          </a:xfrm>
          <a:prstGeom prst="rect">
            <a:avLst/>
          </a:prstGeom>
          <a:noFill/>
        </p:spPr>
        <p:txBody>
          <a:bodyPr wrap="square">
            <a:spAutoFit/>
          </a:bodyPr>
          <a:lstStyle/>
          <a:p>
            <a:r>
              <a:rPr lang="en-GB" b="1" dirty="0"/>
              <a:t>Task:</a:t>
            </a:r>
            <a:r>
              <a:rPr lang="en-GB" dirty="0"/>
              <a:t> Find the names of students and the specific lab rooms they accessed, but only for students enrolled in 2024.</a:t>
            </a:r>
          </a:p>
        </p:txBody>
      </p:sp>
      <p:sp>
        <p:nvSpPr>
          <p:cNvPr id="10" name="TextBox 9">
            <a:extLst>
              <a:ext uri="{FF2B5EF4-FFF2-40B4-BE49-F238E27FC236}">
                <a16:creationId xmlns:a16="http://schemas.microsoft.com/office/drawing/2014/main" id="{6584E179-A63A-8E9A-B89E-1C1426444EAD}"/>
              </a:ext>
            </a:extLst>
          </p:cNvPr>
          <p:cNvSpPr txBox="1"/>
          <p:nvPr/>
        </p:nvSpPr>
        <p:spPr>
          <a:xfrm>
            <a:off x="650535" y="3429000"/>
            <a:ext cx="9579315" cy="646331"/>
          </a:xfrm>
          <a:prstGeom prst="rect">
            <a:avLst/>
          </a:prstGeom>
          <a:noFill/>
        </p:spPr>
        <p:txBody>
          <a:bodyPr wrap="square">
            <a:spAutoFit/>
          </a:bodyPr>
          <a:lstStyle/>
          <a:p>
            <a:r>
              <a:rPr lang="en-GB" dirty="0">
                <a:solidFill>
                  <a:srgbClr val="00B050"/>
                </a:solidFill>
                <a:latin typeface="Consolas" panose="020B0609020204030204" pitchFamily="49" charset="0"/>
                <a:cs typeface="Consolas" panose="020B0609020204030204" pitchFamily="49" charset="0"/>
              </a:rPr>
              <a:t>SELECT</a:t>
            </a:r>
            <a:r>
              <a:rPr lang="en-GB" dirty="0">
                <a:latin typeface="Consolas" panose="020B0609020204030204" pitchFamily="49" charset="0"/>
                <a:cs typeface="Consolas" panose="020B0609020204030204" pitchFamily="49" charset="0"/>
              </a:rPr>
              <a:t> </a:t>
            </a:r>
            <a:r>
              <a:rPr lang="en-GB" dirty="0" err="1">
                <a:latin typeface="Consolas" panose="020B0609020204030204" pitchFamily="49" charset="0"/>
                <a:cs typeface="Consolas" panose="020B0609020204030204" pitchFamily="49" charset="0"/>
              </a:rPr>
              <a:t>s.full_name</a:t>
            </a:r>
            <a:r>
              <a:rPr lang="en-GB" dirty="0">
                <a:latin typeface="Consolas" panose="020B0609020204030204" pitchFamily="49" charset="0"/>
                <a:cs typeface="Consolas" panose="020B0609020204030204" pitchFamily="49" charset="0"/>
              </a:rPr>
              <a:t>, </a:t>
            </a:r>
            <a:r>
              <a:rPr lang="en-GB" dirty="0" err="1">
                <a:latin typeface="Consolas" panose="020B0609020204030204" pitchFamily="49" charset="0"/>
                <a:cs typeface="Consolas" panose="020B0609020204030204" pitchFamily="49" charset="0"/>
              </a:rPr>
              <a:t>l.room_code</a:t>
            </a:r>
            <a:r>
              <a:rPr lang="en-GB" dirty="0">
                <a:latin typeface="Consolas" panose="020B0609020204030204" pitchFamily="49" charset="0"/>
                <a:cs typeface="Consolas" panose="020B0609020204030204" pitchFamily="49" charset="0"/>
              </a:rPr>
              <a:t> </a:t>
            </a:r>
            <a:r>
              <a:rPr lang="en-GB" dirty="0">
                <a:solidFill>
                  <a:srgbClr val="00B050"/>
                </a:solidFill>
                <a:latin typeface="Consolas" panose="020B0609020204030204" pitchFamily="49" charset="0"/>
                <a:cs typeface="Consolas" panose="020B0609020204030204" pitchFamily="49" charset="0"/>
              </a:rPr>
              <a:t>FROM</a:t>
            </a:r>
            <a:r>
              <a:rPr lang="en-GB" dirty="0">
                <a:latin typeface="Consolas" panose="020B0609020204030204" pitchFamily="49" charset="0"/>
                <a:cs typeface="Consolas" panose="020B0609020204030204" pitchFamily="49" charset="0"/>
              </a:rPr>
              <a:t> students s </a:t>
            </a:r>
            <a:r>
              <a:rPr lang="en-GB" dirty="0">
                <a:solidFill>
                  <a:srgbClr val="00B050"/>
                </a:solidFill>
                <a:latin typeface="Consolas" panose="020B0609020204030204" pitchFamily="49" charset="0"/>
                <a:cs typeface="Consolas" panose="020B0609020204030204" pitchFamily="49" charset="0"/>
              </a:rPr>
              <a:t>INNER</a:t>
            </a:r>
            <a:r>
              <a:rPr lang="en-GB" dirty="0">
                <a:latin typeface="Consolas" panose="020B0609020204030204" pitchFamily="49" charset="0"/>
                <a:cs typeface="Consolas" panose="020B0609020204030204" pitchFamily="49" charset="0"/>
              </a:rPr>
              <a:t> </a:t>
            </a:r>
            <a:r>
              <a:rPr lang="en-GB" dirty="0">
                <a:solidFill>
                  <a:srgbClr val="00B050"/>
                </a:solidFill>
                <a:latin typeface="Consolas" panose="020B0609020204030204" pitchFamily="49" charset="0"/>
                <a:cs typeface="Consolas" panose="020B0609020204030204" pitchFamily="49" charset="0"/>
              </a:rPr>
              <a:t>JOIN</a:t>
            </a:r>
            <a:r>
              <a:rPr lang="en-GB" dirty="0">
                <a:latin typeface="Consolas" panose="020B0609020204030204" pitchFamily="49" charset="0"/>
                <a:cs typeface="Consolas" panose="020B0609020204030204" pitchFamily="49" charset="0"/>
              </a:rPr>
              <a:t> </a:t>
            </a:r>
            <a:r>
              <a:rPr lang="en-GB" dirty="0" err="1">
                <a:latin typeface="Consolas" panose="020B0609020204030204" pitchFamily="49" charset="0"/>
                <a:cs typeface="Consolas" panose="020B0609020204030204" pitchFamily="49" charset="0"/>
              </a:rPr>
              <a:t>lab_logs</a:t>
            </a:r>
            <a:r>
              <a:rPr lang="en-GB" dirty="0">
                <a:latin typeface="Consolas" panose="020B0609020204030204" pitchFamily="49" charset="0"/>
                <a:cs typeface="Consolas" panose="020B0609020204030204" pitchFamily="49" charset="0"/>
              </a:rPr>
              <a:t> l </a:t>
            </a:r>
            <a:r>
              <a:rPr lang="en-GB" dirty="0">
                <a:solidFill>
                  <a:srgbClr val="00B050"/>
                </a:solidFill>
                <a:latin typeface="Consolas" panose="020B0609020204030204" pitchFamily="49" charset="0"/>
                <a:cs typeface="Consolas" panose="020B0609020204030204" pitchFamily="49" charset="0"/>
              </a:rPr>
              <a:t>ON</a:t>
            </a:r>
            <a:r>
              <a:rPr lang="en-GB" dirty="0">
                <a:latin typeface="Consolas" panose="020B0609020204030204" pitchFamily="49" charset="0"/>
                <a:cs typeface="Consolas" panose="020B0609020204030204" pitchFamily="49" charset="0"/>
              </a:rPr>
              <a:t> </a:t>
            </a:r>
            <a:r>
              <a:rPr lang="en-GB" dirty="0" err="1">
                <a:latin typeface="Consolas" panose="020B0609020204030204" pitchFamily="49" charset="0"/>
                <a:cs typeface="Consolas" panose="020B0609020204030204" pitchFamily="49" charset="0"/>
              </a:rPr>
              <a:t>s.student_id</a:t>
            </a:r>
            <a:r>
              <a:rPr lang="en-GB" dirty="0">
                <a:latin typeface="Consolas" panose="020B0609020204030204" pitchFamily="49" charset="0"/>
                <a:cs typeface="Consolas" panose="020B0609020204030204" pitchFamily="49" charset="0"/>
              </a:rPr>
              <a:t> </a:t>
            </a:r>
            <a:r>
              <a:rPr lang="en-GB" dirty="0">
                <a:solidFill>
                  <a:srgbClr val="00B050"/>
                </a:solidFill>
                <a:latin typeface="Consolas" panose="020B0609020204030204" pitchFamily="49" charset="0"/>
                <a:cs typeface="Consolas" panose="020B0609020204030204" pitchFamily="49" charset="0"/>
              </a:rPr>
              <a:t>=</a:t>
            </a:r>
            <a:r>
              <a:rPr lang="en-GB" dirty="0">
                <a:latin typeface="Consolas" panose="020B0609020204030204" pitchFamily="49" charset="0"/>
                <a:cs typeface="Consolas" panose="020B0609020204030204" pitchFamily="49" charset="0"/>
              </a:rPr>
              <a:t> </a:t>
            </a:r>
            <a:r>
              <a:rPr lang="en-GB" dirty="0" err="1">
                <a:latin typeface="Consolas" panose="020B0609020204030204" pitchFamily="49" charset="0"/>
                <a:cs typeface="Consolas" panose="020B0609020204030204" pitchFamily="49" charset="0"/>
              </a:rPr>
              <a:t>l.student_id</a:t>
            </a:r>
            <a:r>
              <a:rPr lang="en-GB" dirty="0">
                <a:latin typeface="Consolas" panose="020B0609020204030204" pitchFamily="49" charset="0"/>
                <a:cs typeface="Consolas" panose="020B0609020204030204" pitchFamily="49" charset="0"/>
              </a:rPr>
              <a:t> </a:t>
            </a:r>
            <a:r>
              <a:rPr lang="en-GB" dirty="0">
                <a:solidFill>
                  <a:srgbClr val="00B050"/>
                </a:solidFill>
                <a:latin typeface="Consolas" panose="020B0609020204030204" pitchFamily="49" charset="0"/>
                <a:cs typeface="Consolas" panose="020B0609020204030204" pitchFamily="49" charset="0"/>
              </a:rPr>
              <a:t>WHERE</a:t>
            </a:r>
            <a:r>
              <a:rPr lang="en-GB" dirty="0">
                <a:latin typeface="Consolas" panose="020B0609020204030204" pitchFamily="49" charset="0"/>
                <a:cs typeface="Consolas" panose="020B0609020204030204" pitchFamily="49" charset="0"/>
              </a:rPr>
              <a:t> </a:t>
            </a:r>
            <a:r>
              <a:rPr lang="en-GB" dirty="0" err="1">
                <a:latin typeface="Consolas" panose="020B0609020204030204" pitchFamily="49" charset="0"/>
                <a:cs typeface="Consolas" panose="020B0609020204030204" pitchFamily="49" charset="0"/>
              </a:rPr>
              <a:t>s.enrollment_year</a:t>
            </a:r>
            <a:r>
              <a:rPr lang="en-GB" dirty="0">
                <a:latin typeface="Consolas" panose="020B0609020204030204" pitchFamily="49" charset="0"/>
                <a:cs typeface="Consolas" panose="020B0609020204030204" pitchFamily="49" charset="0"/>
              </a:rPr>
              <a:t> </a:t>
            </a:r>
            <a:r>
              <a:rPr lang="en-GB" dirty="0">
                <a:solidFill>
                  <a:srgbClr val="00B050"/>
                </a:solidFill>
                <a:latin typeface="Consolas" panose="020B0609020204030204" pitchFamily="49" charset="0"/>
                <a:cs typeface="Consolas" panose="020B0609020204030204" pitchFamily="49" charset="0"/>
              </a:rPr>
              <a:t>=</a:t>
            </a:r>
            <a:r>
              <a:rPr lang="en-GB" dirty="0">
                <a:latin typeface="Consolas" panose="020B0609020204030204" pitchFamily="49" charset="0"/>
                <a:cs typeface="Consolas" panose="020B0609020204030204" pitchFamily="49" charset="0"/>
              </a:rPr>
              <a:t> 2024;</a:t>
            </a:r>
          </a:p>
        </p:txBody>
      </p:sp>
      <p:sp>
        <p:nvSpPr>
          <p:cNvPr id="11" name="TextBox 10">
            <a:extLst>
              <a:ext uri="{FF2B5EF4-FFF2-40B4-BE49-F238E27FC236}">
                <a16:creationId xmlns:a16="http://schemas.microsoft.com/office/drawing/2014/main" id="{D662B703-313D-7995-2A5A-1739D665B4A4}"/>
              </a:ext>
            </a:extLst>
          </p:cNvPr>
          <p:cNvSpPr txBox="1"/>
          <p:nvPr/>
        </p:nvSpPr>
        <p:spPr>
          <a:xfrm>
            <a:off x="650535" y="4783009"/>
            <a:ext cx="10344150" cy="1477328"/>
          </a:xfrm>
          <a:prstGeom prst="rect">
            <a:avLst/>
          </a:prstGeom>
          <a:noFill/>
        </p:spPr>
        <p:txBody>
          <a:bodyPr wrap="square" rtlCol="0">
            <a:spAutoFit/>
          </a:bodyPr>
          <a:lstStyle/>
          <a:p>
            <a:r>
              <a:rPr lang="en-GB" b="1" dirty="0"/>
              <a:t>Now open SQL STUDIO and  answer the following question:</a:t>
            </a:r>
          </a:p>
          <a:p>
            <a:r>
              <a:rPr lang="en-GB" dirty="0"/>
              <a:t>Write a query to find all students whose names contain the letter '</a:t>
            </a:r>
            <a:r>
              <a:rPr lang="en-GB" dirty="0" err="1"/>
              <a:t>i</a:t>
            </a:r>
            <a:r>
              <a:rPr lang="en-GB" dirty="0"/>
              <a:t>' (case-insensitive) and show their department names. Only include students who have actually logged into a lab. Use an INNER JOIN and ILIKE.</a:t>
            </a:r>
          </a:p>
          <a:p>
            <a:endParaRPr lang="en-GB" dirty="0"/>
          </a:p>
        </p:txBody>
      </p:sp>
    </p:spTree>
    <p:extLst>
      <p:ext uri="{BB962C8B-B14F-4D97-AF65-F5344CB8AC3E}">
        <p14:creationId xmlns:p14="http://schemas.microsoft.com/office/powerpoint/2010/main" val="30352086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BF80B-3458-970B-687D-A7F85F7EA1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5C7091-A2A8-A237-91BF-554A32EFB702}"/>
              </a:ext>
            </a:extLst>
          </p:cNvPr>
          <p:cNvSpPr>
            <a:spLocks noGrp="1"/>
          </p:cNvSpPr>
          <p:nvPr>
            <p:ph type="title"/>
          </p:nvPr>
        </p:nvSpPr>
        <p:spPr>
          <a:xfrm>
            <a:off x="650535" y="382387"/>
            <a:ext cx="10890929" cy="1097280"/>
          </a:xfrm>
        </p:spPr>
        <p:txBody>
          <a:bodyPr/>
          <a:lstStyle/>
          <a:p>
            <a:r>
              <a:rPr lang="en-GB" dirty="0"/>
              <a:t>QUESTION-LEFT JOIN</a:t>
            </a:r>
          </a:p>
        </p:txBody>
      </p:sp>
      <p:sp>
        <p:nvSpPr>
          <p:cNvPr id="6" name="TextBox 5">
            <a:extLst>
              <a:ext uri="{FF2B5EF4-FFF2-40B4-BE49-F238E27FC236}">
                <a16:creationId xmlns:a16="http://schemas.microsoft.com/office/drawing/2014/main" id="{9AEB3DED-B12E-FF72-DC7E-E25068960831}"/>
              </a:ext>
            </a:extLst>
          </p:cNvPr>
          <p:cNvSpPr txBox="1"/>
          <p:nvPr/>
        </p:nvSpPr>
        <p:spPr>
          <a:xfrm>
            <a:off x="650534" y="1336327"/>
            <a:ext cx="11350965" cy="369332"/>
          </a:xfrm>
          <a:prstGeom prst="rect">
            <a:avLst/>
          </a:prstGeom>
          <a:noFill/>
        </p:spPr>
        <p:txBody>
          <a:bodyPr wrap="square">
            <a:spAutoFit/>
          </a:bodyPr>
          <a:lstStyle/>
          <a:p>
            <a:pPr>
              <a:buNone/>
            </a:pPr>
            <a:r>
              <a:rPr lang="en-GB" b="1" dirty="0"/>
              <a:t>Task:</a:t>
            </a:r>
            <a:r>
              <a:rPr lang="en-GB" dirty="0"/>
              <a:t> List all students and their departments. Include students who have not been assigned to a department yet.</a:t>
            </a:r>
          </a:p>
        </p:txBody>
      </p:sp>
      <p:sp>
        <p:nvSpPr>
          <p:cNvPr id="8" name="TextBox 7">
            <a:extLst>
              <a:ext uri="{FF2B5EF4-FFF2-40B4-BE49-F238E27FC236}">
                <a16:creationId xmlns:a16="http://schemas.microsoft.com/office/drawing/2014/main" id="{5C2B5E26-B834-576B-27F0-7737E03DE83C}"/>
              </a:ext>
            </a:extLst>
          </p:cNvPr>
          <p:cNvSpPr txBox="1"/>
          <p:nvPr/>
        </p:nvSpPr>
        <p:spPr>
          <a:xfrm>
            <a:off x="650535" y="2815333"/>
            <a:ext cx="11541465" cy="369332"/>
          </a:xfrm>
          <a:prstGeom prst="rect">
            <a:avLst/>
          </a:prstGeom>
          <a:noFill/>
        </p:spPr>
        <p:txBody>
          <a:bodyPr wrap="square">
            <a:spAutoFit/>
          </a:bodyPr>
          <a:lstStyle/>
          <a:p>
            <a:r>
              <a:rPr lang="en-GB" b="1" dirty="0"/>
              <a:t>Task:</a:t>
            </a:r>
            <a:r>
              <a:rPr lang="en-GB" dirty="0"/>
              <a:t> Identify students who have </a:t>
            </a:r>
            <a:r>
              <a:rPr lang="en-GB" b="1" dirty="0"/>
              <a:t>never</a:t>
            </a:r>
            <a:r>
              <a:rPr lang="en-GB" dirty="0"/>
              <a:t> entered a lab. This is a common "Anti-Join" pattern.</a:t>
            </a:r>
          </a:p>
        </p:txBody>
      </p:sp>
      <p:sp>
        <p:nvSpPr>
          <p:cNvPr id="11" name="TextBox 10">
            <a:extLst>
              <a:ext uri="{FF2B5EF4-FFF2-40B4-BE49-F238E27FC236}">
                <a16:creationId xmlns:a16="http://schemas.microsoft.com/office/drawing/2014/main" id="{8B237E6F-267B-6187-900B-61D22E2A5DC1}"/>
              </a:ext>
            </a:extLst>
          </p:cNvPr>
          <p:cNvSpPr txBox="1"/>
          <p:nvPr/>
        </p:nvSpPr>
        <p:spPr>
          <a:xfrm>
            <a:off x="650534" y="4998285"/>
            <a:ext cx="10344150" cy="646331"/>
          </a:xfrm>
          <a:prstGeom prst="rect">
            <a:avLst/>
          </a:prstGeom>
          <a:noFill/>
        </p:spPr>
        <p:txBody>
          <a:bodyPr wrap="square" rtlCol="0">
            <a:spAutoFit/>
          </a:bodyPr>
          <a:lstStyle/>
          <a:p>
            <a:r>
              <a:rPr lang="en-GB" b="1" dirty="0"/>
              <a:t>Now open SQL STUDIO and  answer the following question:</a:t>
            </a:r>
          </a:p>
          <a:p>
            <a:r>
              <a:rPr lang="en-GB" dirty="0"/>
              <a:t>Generate a list of all departments and the count of lab entries associated with each.</a:t>
            </a:r>
          </a:p>
        </p:txBody>
      </p:sp>
      <p:pic>
        <p:nvPicPr>
          <p:cNvPr id="3" name="Picture 2">
            <a:extLst>
              <a:ext uri="{FF2B5EF4-FFF2-40B4-BE49-F238E27FC236}">
                <a16:creationId xmlns:a16="http://schemas.microsoft.com/office/drawing/2014/main" id="{EFD84BA4-5C02-870F-B47B-6205A98621E5}"/>
              </a:ext>
            </a:extLst>
          </p:cNvPr>
          <p:cNvPicPr>
            <a:picLocks noChangeAspect="1"/>
          </p:cNvPicPr>
          <p:nvPr/>
        </p:nvPicPr>
        <p:blipFill>
          <a:blip r:embed="rId3"/>
          <a:stretch>
            <a:fillRect/>
          </a:stretch>
        </p:blipFill>
        <p:spPr>
          <a:xfrm>
            <a:off x="820567" y="1762960"/>
            <a:ext cx="5600700" cy="965200"/>
          </a:xfrm>
          <a:prstGeom prst="rect">
            <a:avLst/>
          </a:prstGeom>
        </p:spPr>
      </p:pic>
      <p:pic>
        <p:nvPicPr>
          <p:cNvPr id="5" name="Picture 4">
            <a:extLst>
              <a:ext uri="{FF2B5EF4-FFF2-40B4-BE49-F238E27FC236}">
                <a16:creationId xmlns:a16="http://schemas.microsoft.com/office/drawing/2014/main" id="{99FFDCF4-09D0-7E15-C5C7-4E59A71CD8D2}"/>
              </a:ext>
            </a:extLst>
          </p:cNvPr>
          <p:cNvPicPr>
            <a:picLocks noChangeAspect="1"/>
          </p:cNvPicPr>
          <p:nvPr/>
        </p:nvPicPr>
        <p:blipFill>
          <a:blip r:embed="rId4"/>
          <a:stretch>
            <a:fillRect/>
          </a:stretch>
        </p:blipFill>
        <p:spPr>
          <a:xfrm>
            <a:off x="750717" y="3304003"/>
            <a:ext cx="7180132" cy="1477328"/>
          </a:xfrm>
          <a:prstGeom prst="rect">
            <a:avLst/>
          </a:prstGeom>
        </p:spPr>
      </p:pic>
      <p:sp>
        <p:nvSpPr>
          <p:cNvPr id="14" name="TextBox 13">
            <a:extLst>
              <a:ext uri="{FF2B5EF4-FFF2-40B4-BE49-F238E27FC236}">
                <a16:creationId xmlns:a16="http://schemas.microsoft.com/office/drawing/2014/main" id="{8B814A72-B7BB-A47B-FF43-CD15F975E156}"/>
              </a:ext>
            </a:extLst>
          </p:cNvPr>
          <p:cNvSpPr txBox="1"/>
          <p:nvPr/>
        </p:nvSpPr>
        <p:spPr>
          <a:xfrm>
            <a:off x="936283" y="5644616"/>
            <a:ext cx="11065216" cy="1477328"/>
          </a:xfrm>
          <a:prstGeom prst="rect">
            <a:avLst/>
          </a:prstGeom>
          <a:noFill/>
        </p:spPr>
        <p:txBody>
          <a:bodyPr wrap="square">
            <a:spAutoFit/>
          </a:bodyPr>
          <a:lstStyle/>
          <a:p>
            <a:r>
              <a:rPr lang="en-GB" b="1" dirty="0"/>
              <a:t>Requirement 1:</a:t>
            </a:r>
            <a:r>
              <a:rPr lang="en-GB" dirty="0"/>
              <a:t> You must include departments that have zero lab entries.</a:t>
            </a:r>
          </a:p>
          <a:p>
            <a:r>
              <a:rPr lang="en-GB" b="1" dirty="0"/>
              <a:t>Requirement 2:</a:t>
            </a:r>
            <a:r>
              <a:rPr lang="en-GB" dirty="0"/>
              <a:t> Use the </a:t>
            </a:r>
            <a:r>
              <a:rPr lang="en-GB" sz="1800" kern="1200" dirty="0">
                <a:solidFill>
                  <a:schemeClr val="tx1"/>
                </a:solidFill>
                <a:latin typeface="+mn-lt"/>
                <a:ea typeface="+mn-ea"/>
                <a:cs typeface="+mn-cs"/>
              </a:rPr>
              <a:t>COALESCE (do research on how to use this )</a:t>
            </a:r>
            <a:r>
              <a:rPr lang="en-GB" dirty="0"/>
              <a:t> function to show </a:t>
            </a:r>
            <a:r>
              <a:rPr lang="en-GB" sz="1800" kern="1200" dirty="0">
                <a:solidFill>
                  <a:schemeClr val="tx1"/>
                </a:solidFill>
                <a:latin typeface="+mn-lt"/>
                <a:ea typeface="+mn-ea"/>
                <a:cs typeface="+mn-cs"/>
              </a:rPr>
              <a:t>0</a:t>
            </a:r>
            <a:r>
              <a:rPr lang="en-GB" dirty="0"/>
              <a:t> instead of </a:t>
            </a:r>
            <a:r>
              <a:rPr lang="en-GB" sz="1800" kern="1200" dirty="0">
                <a:solidFill>
                  <a:schemeClr val="tx1"/>
                </a:solidFill>
                <a:latin typeface="+mn-lt"/>
                <a:ea typeface="+mn-ea"/>
                <a:cs typeface="+mn-cs"/>
              </a:rPr>
              <a:t>NULL</a:t>
            </a:r>
            <a:r>
              <a:rPr lang="en-GB" dirty="0"/>
              <a:t> for departments with no activity.</a:t>
            </a:r>
          </a:p>
          <a:p>
            <a:r>
              <a:rPr lang="en-GB" b="1" dirty="0"/>
              <a:t>Requirement 3:</a:t>
            </a:r>
            <a:r>
              <a:rPr lang="en-GB" dirty="0"/>
              <a:t> Ensure you are joining through the </a:t>
            </a:r>
            <a:r>
              <a:rPr lang="en-GB" sz="1800" kern="1200" dirty="0">
                <a:solidFill>
                  <a:schemeClr val="tx1"/>
                </a:solidFill>
                <a:latin typeface="+mn-lt"/>
                <a:ea typeface="+mn-ea"/>
                <a:cs typeface="+mn-cs"/>
              </a:rPr>
              <a:t>students</a:t>
            </a:r>
            <a:r>
              <a:rPr lang="en-GB" dirty="0"/>
              <a:t> table to reach the </a:t>
            </a:r>
            <a:r>
              <a:rPr lang="en-GB" sz="1800" kern="1200" dirty="0" err="1">
                <a:solidFill>
                  <a:schemeClr val="tx1"/>
                </a:solidFill>
                <a:latin typeface="+mn-lt"/>
                <a:ea typeface="+mn-ea"/>
                <a:cs typeface="+mn-cs"/>
              </a:rPr>
              <a:t>lab_logs</a:t>
            </a:r>
            <a:r>
              <a:rPr lang="en-GB" dirty="0"/>
              <a:t>.</a:t>
            </a:r>
          </a:p>
          <a:p>
            <a:endParaRPr lang="en-GB" dirty="0"/>
          </a:p>
        </p:txBody>
      </p:sp>
    </p:spTree>
    <p:extLst>
      <p:ext uri="{BB962C8B-B14F-4D97-AF65-F5344CB8AC3E}">
        <p14:creationId xmlns:p14="http://schemas.microsoft.com/office/powerpoint/2010/main" val="39163047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251D4-5C03-1572-4B2D-F1FA885CE2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1D5668-F985-C509-18A7-BC627F43434C}"/>
              </a:ext>
            </a:extLst>
          </p:cNvPr>
          <p:cNvSpPr>
            <a:spLocks noGrp="1"/>
          </p:cNvSpPr>
          <p:nvPr>
            <p:ph type="title"/>
          </p:nvPr>
        </p:nvSpPr>
        <p:spPr>
          <a:xfrm>
            <a:off x="650535" y="382387"/>
            <a:ext cx="10890929" cy="1097280"/>
          </a:xfrm>
        </p:spPr>
        <p:txBody>
          <a:bodyPr/>
          <a:lstStyle/>
          <a:p>
            <a:r>
              <a:rPr lang="en-GB" dirty="0"/>
              <a:t>RIGHT JOIN</a:t>
            </a:r>
          </a:p>
        </p:txBody>
      </p:sp>
      <p:pic>
        <p:nvPicPr>
          <p:cNvPr id="3" name="Picture 2">
            <a:extLst>
              <a:ext uri="{FF2B5EF4-FFF2-40B4-BE49-F238E27FC236}">
                <a16:creationId xmlns:a16="http://schemas.microsoft.com/office/drawing/2014/main" id="{756CCC65-45DA-DA85-0653-2A38EB574F8F}"/>
              </a:ext>
            </a:extLst>
          </p:cNvPr>
          <p:cNvPicPr>
            <a:picLocks noChangeAspect="1"/>
          </p:cNvPicPr>
          <p:nvPr/>
        </p:nvPicPr>
        <p:blipFill>
          <a:blip r:embed="rId2"/>
          <a:stretch>
            <a:fillRect/>
          </a:stretch>
        </p:blipFill>
        <p:spPr>
          <a:xfrm>
            <a:off x="650535" y="1304577"/>
            <a:ext cx="11369044" cy="3750307"/>
          </a:xfrm>
          <a:prstGeom prst="rect">
            <a:avLst/>
          </a:prstGeom>
        </p:spPr>
      </p:pic>
    </p:spTree>
    <p:extLst>
      <p:ext uri="{BB962C8B-B14F-4D97-AF65-F5344CB8AC3E}">
        <p14:creationId xmlns:p14="http://schemas.microsoft.com/office/powerpoint/2010/main" val="30767643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2FC3C-1B83-6F46-6428-8389A88EDA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885B39-6FE7-269A-56B5-45F9ECAD3E57}"/>
              </a:ext>
            </a:extLst>
          </p:cNvPr>
          <p:cNvSpPr>
            <a:spLocks noGrp="1"/>
          </p:cNvSpPr>
          <p:nvPr>
            <p:ph type="title"/>
          </p:nvPr>
        </p:nvSpPr>
        <p:spPr>
          <a:xfrm>
            <a:off x="650535" y="382387"/>
            <a:ext cx="10890929" cy="1097280"/>
          </a:xfrm>
        </p:spPr>
        <p:txBody>
          <a:bodyPr/>
          <a:lstStyle/>
          <a:p>
            <a:r>
              <a:rPr lang="en-GB" dirty="0"/>
              <a:t>RIGHT JOIN</a:t>
            </a:r>
          </a:p>
        </p:txBody>
      </p:sp>
      <p:pic>
        <p:nvPicPr>
          <p:cNvPr id="4" name="Picture 3">
            <a:extLst>
              <a:ext uri="{FF2B5EF4-FFF2-40B4-BE49-F238E27FC236}">
                <a16:creationId xmlns:a16="http://schemas.microsoft.com/office/drawing/2014/main" id="{6FAAC049-C1AE-3B41-5719-BE8BA0F426F9}"/>
              </a:ext>
            </a:extLst>
          </p:cNvPr>
          <p:cNvPicPr>
            <a:picLocks noChangeAspect="1"/>
          </p:cNvPicPr>
          <p:nvPr/>
        </p:nvPicPr>
        <p:blipFill>
          <a:blip r:embed="rId2"/>
          <a:stretch>
            <a:fillRect/>
          </a:stretch>
        </p:blipFill>
        <p:spPr>
          <a:xfrm>
            <a:off x="555659" y="1319024"/>
            <a:ext cx="11325603" cy="4711905"/>
          </a:xfrm>
          <a:prstGeom prst="rect">
            <a:avLst/>
          </a:prstGeom>
        </p:spPr>
      </p:pic>
      <p:pic>
        <p:nvPicPr>
          <p:cNvPr id="5" name="Picture 4">
            <a:extLst>
              <a:ext uri="{FF2B5EF4-FFF2-40B4-BE49-F238E27FC236}">
                <a16:creationId xmlns:a16="http://schemas.microsoft.com/office/drawing/2014/main" id="{DC04714F-D697-98EC-929A-827B0710AE30}"/>
              </a:ext>
            </a:extLst>
          </p:cNvPr>
          <p:cNvPicPr>
            <a:picLocks noChangeAspect="1"/>
          </p:cNvPicPr>
          <p:nvPr/>
        </p:nvPicPr>
        <p:blipFill>
          <a:blip r:embed="rId3"/>
          <a:stretch>
            <a:fillRect/>
          </a:stretch>
        </p:blipFill>
        <p:spPr>
          <a:xfrm>
            <a:off x="6218460" y="2290676"/>
            <a:ext cx="5918200" cy="2768600"/>
          </a:xfrm>
          <a:prstGeom prst="rect">
            <a:avLst/>
          </a:prstGeom>
        </p:spPr>
      </p:pic>
      <p:sp>
        <p:nvSpPr>
          <p:cNvPr id="6" name="Right Arrow 5">
            <a:extLst>
              <a:ext uri="{FF2B5EF4-FFF2-40B4-BE49-F238E27FC236}">
                <a16:creationId xmlns:a16="http://schemas.microsoft.com/office/drawing/2014/main" id="{45CD19D9-D9C8-5FCD-5B83-540FB4EA0982}"/>
              </a:ext>
            </a:extLst>
          </p:cNvPr>
          <p:cNvSpPr/>
          <p:nvPr/>
        </p:nvSpPr>
        <p:spPr>
          <a:xfrm>
            <a:off x="5322013" y="3041151"/>
            <a:ext cx="896447" cy="38784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0255583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EE8A7-6E4F-9241-B33D-3ED5F7600B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30BA2C-43CC-90A9-7BA6-E10ED0036FCA}"/>
              </a:ext>
            </a:extLst>
          </p:cNvPr>
          <p:cNvSpPr>
            <a:spLocks noGrp="1"/>
          </p:cNvSpPr>
          <p:nvPr>
            <p:ph type="title"/>
          </p:nvPr>
        </p:nvSpPr>
        <p:spPr>
          <a:xfrm>
            <a:off x="650535" y="382387"/>
            <a:ext cx="10890929" cy="1097280"/>
          </a:xfrm>
        </p:spPr>
        <p:txBody>
          <a:bodyPr/>
          <a:lstStyle/>
          <a:p>
            <a:r>
              <a:rPr lang="en-GB" dirty="0"/>
              <a:t>RIGHT JOIN</a:t>
            </a:r>
          </a:p>
        </p:txBody>
      </p:sp>
      <p:pic>
        <p:nvPicPr>
          <p:cNvPr id="3" name="Picture 2">
            <a:extLst>
              <a:ext uri="{FF2B5EF4-FFF2-40B4-BE49-F238E27FC236}">
                <a16:creationId xmlns:a16="http://schemas.microsoft.com/office/drawing/2014/main" id="{9436E3A4-DC2D-3D9F-D661-395A487B9CC0}"/>
              </a:ext>
            </a:extLst>
          </p:cNvPr>
          <p:cNvPicPr>
            <a:picLocks noChangeAspect="1"/>
          </p:cNvPicPr>
          <p:nvPr/>
        </p:nvPicPr>
        <p:blipFill>
          <a:blip r:embed="rId2"/>
          <a:stretch>
            <a:fillRect/>
          </a:stretch>
        </p:blipFill>
        <p:spPr>
          <a:xfrm>
            <a:off x="650534" y="1292066"/>
            <a:ext cx="9225525" cy="5365587"/>
          </a:xfrm>
          <a:prstGeom prst="rect">
            <a:avLst/>
          </a:prstGeom>
        </p:spPr>
      </p:pic>
    </p:spTree>
    <p:extLst>
      <p:ext uri="{BB962C8B-B14F-4D97-AF65-F5344CB8AC3E}">
        <p14:creationId xmlns:p14="http://schemas.microsoft.com/office/powerpoint/2010/main" val="15353616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7473A-F77A-363F-D23D-4712230808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E34388-05FB-E595-1E4C-3AD4EAF4FFC7}"/>
              </a:ext>
            </a:extLst>
          </p:cNvPr>
          <p:cNvSpPr>
            <a:spLocks noGrp="1"/>
          </p:cNvSpPr>
          <p:nvPr>
            <p:ph type="title"/>
          </p:nvPr>
        </p:nvSpPr>
        <p:spPr>
          <a:xfrm>
            <a:off x="650535" y="382387"/>
            <a:ext cx="10890929" cy="1097280"/>
          </a:xfrm>
        </p:spPr>
        <p:txBody>
          <a:bodyPr/>
          <a:lstStyle/>
          <a:p>
            <a:r>
              <a:rPr lang="en-GB" dirty="0"/>
              <a:t>RIGHT JOIN</a:t>
            </a:r>
          </a:p>
        </p:txBody>
      </p:sp>
      <p:pic>
        <p:nvPicPr>
          <p:cNvPr id="4" name="Picture 3">
            <a:extLst>
              <a:ext uri="{FF2B5EF4-FFF2-40B4-BE49-F238E27FC236}">
                <a16:creationId xmlns:a16="http://schemas.microsoft.com/office/drawing/2014/main" id="{12854F73-728D-67AC-F5B9-66629A282103}"/>
              </a:ext>
            </a:extLst>
          </p:cNvPr>
          <p:cNvPicPr>
            <a:picLocks noChangeAspect="1"/>
          </p:cNvPicPr>
          <p:nvPr/>
        </p:nvPicPr>
        <p:blipFill>
          <a:blip r:embed="rId2"/>
          <a:stretch>
            <a:fillRect/>
          </a:stretch>
        </p:blipFill>
        <p:spPr>
          <a:xfrm>
            <a:off x="650534" y="1220688"/>
            <a:ext cx="11257213" cy="5593294"/>
          </a:xfrm>
          <a:prstGeom prst="rect">
            <a:avLst/>
          </a:prstGeom>
        </p:spPr>
      </p:pic>
      <p:pic>
        <p:nvPicPr>
          <p:cNvPr id="6" name="Picture 5">
            <a:extLst>
              <a:ext uri="{FF2B5EF4-FFF2-40B4-BE49-F238E27FC236}">
                <a16:creationId xmlns:a16="http://schemas.microsoft.com/office/drawing/2014/main" id="{5E4BA42E-E9ED-E418-E981-DC1834A2EE58}"/>
              </a:ext>
            </a:extLst>
          </p:cNvPr>
          <p:cNvPicPr>
            <a:picLocks noChangeAspect="1"/>
          </p:cNvPicPr>
          <p:nvPr/>
        </p:nvPicPr>
        <p:blipFill>
          <a:blip r:embed="rId3"/>
          <a:stretch>
            <a:fillRect/>
          </a:stretch>
        </p:blipFill>
        <p:spPr>
          <a:xfrm>
            <a:off x="6279140" y="3616931"/>
            <a:ext cx="5842000" cy="1905000"/>
          </a:xfrm>
          <a:prstGeom prst="rect">
            <a:avLst/>
          </a:prstGeom>
          <a:ln>
            <a:solidFill>
              <a:schemeClr val="accent1">
                <a:shade val="15000"/>
              </a:schemeClr>
            </a:solidFill>
          </a:ln>
        </p:spPr>
      </p:pic>
      <p:sp>
        <p:nvSpPr>
          <p:cNvPr id="7" name="Right Arrow 6">
            <a:extLst>
              <a:ext uri="{FF2B5EF4-FFF2-40B4-BE49-F238E27FC236}">
                <a16:creationId xmlns:a16="http://schemas.microsoft.com/office/drawing/2014/main" id="{D92A019D-EB0B-D04F-E95B-702848EA34C7}"/>
              </a:ext>
            </a:extLst>
          </p:cNvPr>
          <p:cNvSpPr/>
          <p:nvPr/>
        </p:nvSpPr>
        <p:spPr>
          <a:xfrm>
            <a:off x="5373384" y="4304872"/>
            <a:ext cx="905756" cy="49315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Picture 7">
            <a:extLst>
              <a:ext uri="{FF2B5EF4-FFF2-40B4-BE49-F238E27FC236}">
                <a16:creationId xmlns:a16="http://schemas.microsoft.com/office/drawing/2014/main" id="{EFD1BF6D-51AD-85E5-C6C1-F5F4F592E20D}"/>
              </a:ext>
            </a:extLst>
          </p:cNvPr>
          <p:cNvPicPr>
            <a:picLocks noChangeAspect="1"/>
          </p:cNvPicPr>
          <p:nvPr/>
        </p:nvPicPr>
        <p:blipFill>
          <a:blip r:embed="rId4"/>
          <a:stretch>
            <a:fillRect/>
          </a:stretch>
        </p:blipFill>
        <p:spPr>
          <a:xfrm>
            <a:off x="4655050" y="2974359"/>
            <a:ext cx="7772400" cy="732182"/>
          </a:xfrm>
          <a:prstGeom prst="rect">
            <a:avLst/>
          </a:prstGeom>
          <a:ln>
            <a:solidFill>
              <a:schemeClr val="accent1">
                <a:shade val="15000"/>
              </a:schemeClr>
            </a:solidFill>
          </a:ln>
        </p:spPr>
      </p:pic>
    </p:spTree>
    <p:extLst>
      <p:ext uri="{BB962C8B-B14F-4D97-AF65-F5344CB8AC3E}">
        <p14:creationId xmlns:p14="http://schemas.microsoft.com/office/powerpoint/2010/main" val="41116939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7B9F6-1B99-7E12-89B0-1D1B8B01D6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884995-DC94-4BDF-A07A-452FE0C72E1B}"/>
              </a:ext>
            </a:extLst>
          </p:cNvPr>
          <p:cNvSpPr>
            <a:spLocks noGrp="1"/>
          </p:cNvSpPr>
          <p:nvPr>
            <p:ph type="title"/>
          </p:nvPr>
        </p:nvSpPr>
        <p:spPr>
          <a:xfrm>
            <a:off x="650535" y="382387"/>
            <a:ext cx="10890929" cy="1097280"/>
          </a:xfrm>
        </p:spPr>
        <p:txBody>
          <a:bodyPr/>
          <a:lstStyle/>
          <a:p>
            <a:r>
              <a:rPr lang="en-GB" dirty="0"/>
              <a:t>RIGHT ANTI JOIN</a:t>
            </a:r>
          </a:p>
        </p:txBody>
      </p:sp>
      <p:pic>
        <p:nvPicPr>
          <p:cNvPr id="3" name="Picture 2">
            <a:extLst>
              <a:ext uri="{FF2B5EF4-FFF2-40B4-BE49-F238E27FC236}">
                <a16:creationId xmlns:a16="http://schemas.microsoft.com/office/drawing/2014/main" id="{F8601BB0-D9B7-3D9C-04A8-E6F1137214DC}"/>
              </a:ext>
            </a:extLst>
          </p:cNvPr>
          <p:cNvPicPr>
            <a:picLocks noChangeAspect="1"/>
          </p:cNvPicPr>
          <p:nvPr/>
        </p:nvPicPr>
        <p:blipFill>
          <a:blip r:embed="rId2"/>
          <a:stretch>
            <a:fillRect/>
          </a:stretch>
        </p:blipFill>
        <p:spPr>
          <a:xfrm>
            <a:off x="650534" y="1311965"/>
            <a:ext cx="9478811" cy="5163648"/>
          </a:xfrm>
          <a:prstGeom prst="rect">
            <a:avLst/>
          </a:prstGeom>
        </p:spPr>
      </p:pic>
    </p:spTree>
    <p:extLst>
      <p:ext uri="{BB962C8B-B14F-4D97-AF65-F5344CB8AC3E}">
        <p14:creationId xmlns:p14="http://schemas.microsoft.com/office/powerpoint/2010/main" val="22144055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DE1CE-BE14-307D-F446-C53AD7582C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F66AC9-CAFB-820C-5094-670C9E997740}"/>
              </a:ext>
            </a:extLst>
          </p:cNvPr>
          <p:cNvSpPr>
            <a:spLocks noGrp="1"/>
          </p:cNvSpPr>
          <p:nvPr>
            <p:ph type="title"/>
          </p:nvPr>
        </p:nvSpPr>
        <p:spPr>
          <a:xfrm>
            <a:off x="650535" y="382387"/>
            <a:ext cx="10890929" cy="1097280"/>
          </a:xfrm>
        </p:spPr>
        <p:txBody>
          <a:bodyPr/>
          <a:lstStyle/>
          <a:p>
            <a:r>
              <a:rPr lang="en-GB" dirty="0"/>
              <a:t>FULL OUTER JOIN</a:t>
            </a:r>
          </a:p>
        </p:txBody>
      </p:sp>
      <p:pic>
        <p:nvPicPr>
          <p:cNvPr id="3" name="Picture 2">
            <a:extLst>
              <a:ext uri="{FF2B5EF4-FFF2-40B4-BE49-F238E27FC236}">
                <a16:creationId xmlns:a16="http://schemas.microsoft.com/office/drawing/2014/main" id="{C1C31894-FC40-28E8-FEE3-908A43C81240}"/>
              </a:ext>
            </a:extLst>
          </p:cNvPr>
          <p:cNvPicPr>
            <a:picLocks noChangeAspect="1"/>
          </p:cNvPicPr>
          <p:nvPr/>
        </p:nvPicPr>
        <p:blipFill>
          <a:blip r:embed="rId2"/>
          <a:stretch>
            <a:fillRect/>
          </a:stretch>
        </p:blipFill>
        <p:spPr>
          <a:xfrm>
            <a:off x="740596" y="1342062"/>
            <a:ext cx="10591800" cy="5295900"/>
          </a:xfrm>
          <a:prstGeom prst="rect">
            <a:avLst/>
          </a:prstGeom>
        </p:spPr>
      </p:pic>
      <p:pic>
        <p:nvPicPr>
          <p:cNvPr id="4" name="Picture 3">
            <a:extLst>
              <a:ext uri="{FF2B5EF4-FFF2-40B4-BE49-F238E27FC236}">
                <a16:creationId xmlns:a16="http://schemas.microsoft.com/office/drawing/2014/main" id="{22E49664-BDBB-B800-C264-6E5D6246D340}"/>
              </a:ext>
            </a:extLst>
          </p:cNvPr>
          <p:cNvPicPr>
            <a:picLocks noChangeAspect="1"/>
          </p:cNvPicPr>
          <p:nvPr/>
        </p:nvPicPr>
        <p:blipFill>
          <a:blip r:embed="rId3"/>
          <a:stretch>
            <a:fillRect/>
          </a:stretch>
        </p:blipFill>
        <p:spPr>
          <a:xfrm>
            <a:off x="5576364" y="3004446"/>
            <a:ext cx="6615636" cy="3471167"/>
          </a:xfrm>
          <a:prstGeom prst="rect">
            <a:avLst/>
          </a:prstGeom>
        </p:spPr>
      </p:pic>
      <p:sp>
        <p:nvSpPr>
          <p:cNvPr id="5" name="Right Arrow 4">
            <a:extLst>
              <a:ext uri="{FF2B5EF4-FFF2-40B4-BE49-F238E27FC236}">
                <a16:creationId xmlns:a16="http://schemas.microsoft.com/office/drawing/2014/main" id="{F9B697E7-996B-6805-CF34-DBF5304FB3C3}"/>
              </a:ext>
            </a:extLst>
          </p:cNvPr>
          <p:cNvSpPr/>
          <p:nvPr/>
        </p:nvSpPr>
        <p:spPr>
          <a:xfrm>
            <a:off x="4849402" y="4140485"/>
            <a:ext cx="726962" cy="4520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0622261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2813D-C2ED-9705-981B-C11356E82C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C83702-6C44-3FA2-E21E-48E37202B30E}"/>
              </a:ext>
            </a:extLst>
          </p:cNvPr>
          <p:cNvSpPr>
            <a:spLocks noGrp="1"/>
          </p:cNvSpPr>
          <p:nvPr>
            <p:ph type="title"/>
          </p:nvPr>
        </p:nvSpPr>
        <p:spPr>
          <a:xfrm>
            <a:off x="650535" y="382387"/>
            <a:ext cx="10890929" cy="1097280"/>
          </a:xfrm>
        </p:spPr>
        <p:txBody>
          <a:bodyPr/>
          <a:lstStyle/>
          <a:p>
            <a:r>
              <a:rPr lang="en-GB" dirty="0"/>
              <a:t>FULL OUTER JOIN</a:t>
            </a:r>
          </a:p>
        </p:txBody>
      </p:sp>
      <p:pic>
        <p:nvPicPr>
          <p:cNvPr id="6" name="Picture 5">
            <a:extLst>
              <a:ext uri="{FF2B5EF4-FFF2-40B4-BE49-F238E27FC236}">
                <a16:creationId xmlns:a16="http://schemas.microsoft.com/office/drawing/2014/main" id="{7CA21F64-55C6-B0CD-0EAD-8997970DEE13}"/>
              </a:ext>
            </a:extLst>
          </p:cNvPr>
          <p:cNvPicPr>
            <a:picLocks noChangeAspect="1"/>
          </p:cNvPicPr>
          <p:nvPr/>
        </p:nvPicPr>
        <p:blipFill>
          <a:blip r:embed="rId2"/>
          <a:stretch>
            <a:fillRect/>
          </a:stretch>
        </p:blipFill>
        <p:spPr>
          <a:xfrm>
            <a:off x="650534" y="1227200"/>
            <a:ext cx="10371253" cy="5409906"/>
          </a:xfrm>
          <a:prstGeom prst="rect">
            <a:avLst/>
          </a:prstGeom>
        </p:spPr>
      </p:pic>
    </p:spTree>
    <p:extLst>
      <p:ext uri="{BB962C8B-B14F-4D97-AF65-F5344CB8AC3E}">
        <p14:creationId xmlns:p14="http://schemas.microsoft.com/office/powerpoint/2010/main" val="29999691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0DF12-A4FA-80AA-6568-3D1ACF93C0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51E66B-79EB-97B3-80A0-AA9781E2C4EF}"/>
              </a:ext>
            </a:extLst>
          </p:cNvPr>
          <p:cNvSpPr>
            <a:spLocks noGrp="1"/>
          </p:cNvSpPr>
          <p:nvPr>
            <p:ph type="title"/>
          </p:nvPr>
        </p:nvSpPr>
        <p:spPr>
          <a:xfrm>
            <a:off x="650535" y="382387"/>
            <a:ext cx="10890929" cy="1097280"/>
          </a:xfrm>
        </p:spPr>
        <p:txBody>
          <a:bodyPr/>
          <a:lstStyle/>
          <a:p>
            <a:r>
              <a:rPr lang="en-GB" dirty="0"/>
              <a:t>FULL OUTER JOIN</a:t>
            </a:r>
          </a:p>
        </p:txBody>
      </p:sp>
      <p:pic>
        <p:nvPicPr>
          <p:cNvPr id="3" name="Picture 2">
            <a:extLst>
              <a:ext uri="{FF2B5EF4-FFF2-40B4-BE49-F238E27FC236}">
                <a16:creationId xmlns:a16="http://schemas.microsoft.com/office/drawing/2014/main" id="{90FC3335-574D-0D0E-A7AC-F3629471DEC6}"/>
              </a:ext>
            </a:extLst>
          </p:cNvPr>
          <p:cNvPicPr>
            <a:picLocks noChangeAspect="1"/>
          </p:cNvPicPr>
          <p:nvPr/>
        </p:nvPicPr>
        <p:blipFill>
          <a:blip r:embed="rId2"/>
          <a:stretch>
            <a:fillRect/>
          </a:stretch>
        </p:blipFill>
        <p:spPr>
          <a:xfrm>
            <a:off x="650535" y="1246831"/>
            <a:ext cx="10784362" cy="5228781"/>
          </a:xfrm>
          <a:prstGeom prst="rect">
            <a:avLst/>
          </a:prstGeom>
        </p:spPr>
      </p:pic>
      <p:pic>
        <p:nvPicPr>
          <p:cNvPr id="4" name="Picture 3">
            <a:extLst>
              <a:ext uri="{FF2B5EF4-FFF2-40B4-BE49-F238E27FC236}">
                <a16:creationId xmlns:a16="http://schemas.microsoft.com/office/drawing/2014/main" id="{71A3142B-25C5-0568-FD13-362D61FB5D64}"/>
              </a:ext>
            </a:extLst>
          </p:cNvPr>
          <p:cNvPicPr>
            <a:picLocks noChangeAspect="1"/>
          </p:cNvPicPr>
          <p:nvPr/>
        </p:nvPicPr>
        <p:blipFill>
          <a:blip r:embed="rId3"/>
          <a:stretch>
            <a:fillRect/>
          </a:stretch>
        </p:blipFill>
        <p:spPr>
          <a:xfrm>
            <a:off x="5633164" y="3026880"/>
            <a:ext cx="6083300" cy="2489200"/>
          </a:xfrm>
          <a:prstGeom prst="rect">
            <a:avLst/>
          </a:prstGeom>
        </p:spPr>
      </p:pic>
      <p:sp>
        <p:nvSpPr>
          <p:cNvPr id="5" name="Right Arrow 4">
            <a:extLst>
              <a:ext uri="{FF2B5EF4-FFF2-40B4-BE49-F238E27FC236}">
                <a16:creationId xmlns:a16="http://schemas.microsoft.com/office/drawing/2014/main" id="{7993801D-E0EF-B9EB-050C-3B4420D0F05D}"/>
              </a:ext>
            </a:extLst>
          </p:cNvPr>
          <p:cNvSpPr/>
          <p:nvPr/>
        </p:nvSpPr>
        <p:spPr>
          <a:xfrm>
            <a:off x="4623371" y="3861221"/>
            <a:ext cx="955496" cy="44365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908529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7EED7-B707-62CE-1E5C-9A56780BAD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D850A8-B640-27FA-804E-89FE5F3298B3}"/>
              </a:ext>
            </a:extLst>
          </p:cNvPr>
          <p:cNvSpPr>
            <a:spLocks noGrp="1"/>
          </p:cNvSpPr>
          <p:nvPr>
            <p:ph type="title"/>
          </p:nvPr>
        </p:nvSpPr>
        <p:spPr>
          <a:xfrm>
            <a:off x="650535" y="382387"/>
            <a:ext cx="10890929" cy="1097280"/>
          </a:xfrm>
        </p:spPr>
        <p:txBody>
          <a:bodyPr/>
          <a:lstStyle/>
          <a:p>
            <a:r>
              <a:rPr lang="en-GB" dirty="0"/>
              <a:t>FULL ANTI JOIN</a:t>
            </a:r>
          </a:p>
        </p:txBody>
      </p:sp>
      <p:pic>
        <p:nvPicPr>
          <p:cNvPr id="3" name="Picture 2">
            <a:extLst>
              <a:ext uri="{FF2B5EF4-FFF2-40B4-BE49-F238E27FC236}">
                <a16:creationId xmlns:a16="http://schemas.microsoft.com/office/drawing/2014/main" id="{8BBB2FB8-846E-6E3B-93AD-D9CA43E9F55A}"/>
              </a:ext>
            </a:extLst>
          </p:cNvPr>
          <p:cNvPicPr>
            <a:picLocks noChangeAspect="1"/>
          </p:cNvPicPr>
          <p:nvPr/>
        </p:nvPicPr>
        <p:blipFill>
          <a:blip r:embed="rId2"/>
          <a:stretch>
            <a:fillRect/>
          </a:stretch>
        </p:blipFill>
        <p:spPr>
          <a:xfrm>
            <a:off x="761143" y="1276721"/>
            <a:ext cx="10006173" cy="5541680"/>
          </a:xfrm>
          <a:prstGeom prst="rect">
            <a:avLst/>
          </a:prstGeom>
        </p:spPr>
      </p:pic>
    </p:spTree>
    <p:extLst>
      <p:ext uri="{BB962C8B-B14F-4D97-AF65-F5344CB8AC3E}">
        <p14:creationId xmlns:p14="http://schemas.microsoft.com/office/powerpoint/2010/main" val="29153240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B9023-B90D-D5FD-885B-CD3EB10CAE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E4F181-C08B-002A-12F2-37B6B9517D20}"/>
              </a:ext>
            </a:extLst>
          </p:cNvPr>
          <p:cNvSpPr>
            <a:spLocks noGrp="1"/>
          </p:cNvSpPr>
          <p:nvPr>
            <p:ph type="title"/>
          </p:nvPr>
        </p:nvSpPr>
        <p:spPr>
          <a:xfrm>
            <a:off x="650535" y="382387"/>
            <a:ext cx="10890929" cy="1097280"/>
          </a:xfrm>
        </p:spPr>
        <p:txBody>
          <a:bodyPr/>
          <a:lstStyle/>
          <a:p>
            <a:r>
              <a:rPr lang="en-GB" dirty="0"/>
              <a:t>QUESTION-RIGHT JOIN</a:t>
            </a:r>
          </a:p>
        </p:txBody>
      </p:sp>
      <p:sp>
        <p:nvSpPr>
          <p:cNvPr id="6" name="TextBox 5">
            <a:extLst>
              <a:ext uri="{FF2B5EF4-FFF2-40B4-BE49-F238E27FC236}">
                <a16:creationId xmlns:a16="http://schemas.microsoft.com/office/drawing/2014/main" id="{6BD11218-3F6C-3E72-4C41-CB0050FB6A3B}"/>
              </a:ext>
            </a:extLst>
          </p:cNvPr>
          <p:cNvSpPr txBox="1"/>
          <p:nvPr/>
        </p:nvSpPr>
        <p:spPr>
          <a:xfrm>
            <a:off x="650534" y="1336327"/>
            <a:ext cx="11065215" cy="646331"/>
          </a:xfrm>
          <a:prstGeom prst="rect">
            <a:avLst/>
          </a:prstGeom>
          <a:noFill/>
        </p:spPr>
        <p:txBody>
          <a:bodyPr wrap="square">
            <a:spAutoFit/>
          </a:bodyPr>
          <a:lstStyle/>
          <a:p>
            <a:pPr>
              <a:buNone/>
            </a:pPr>
            <a:r>
              <a:rPr lang="en-GB" b="1" dirty="0"/>
              <a:t>Task:</a:t>
            </a:r>
            <a:r>
              <a:rPr lang="en-GB" dirty="0"/>
              <a:t> List all departments and any students assigned to them. Ensure that departments with no students (like "Unused Department") still appear in the list.</a:t>
            </a:r>
          </a:p>
        </p:txBody>
      </p:sp>
      <p:sp>
        <p:nvSpPr>
          <p:cNvPr id="8" name="TextBox 7">
            <a:extLst>
              <a:ext uri="{FF2B5EF4-FFF2-40B4-BE49-F238E27FC236}">
                <a16:creationId xmlns:a16="http://schemas.microsoft.com/office/drawing/2014/main" id="{40E57F1A-93FD-A51D-74B6-5ED7D6784BFF}"/>
              </a:ext>
            </a:extLst>
          </p:cNvPr>
          <p:cNvSpPr txBox="1"/>
          <p:nvPr/>
        </p:nvSpPr>
        <p:spPr>
          <a:xfrm>
            <a:off x="650535" y="3078011"/>
            <a:ext cx="11541465" cy="646331"/>
          </a:xfrm>
          <a:prstGeom prst="rect">
            <a:avLst/>
          </a:prstGeom>
          <a:noFill/>
        </p:spPr>
        <p:txBody>
          <a:bodyPr wrap="square">
            <a:spAutoFit/>
          </a:bodyPr>
          <a:lstStyle/>
          <a:p>
            <a:r>
              <a:rPr lang="en-GB" b="1" dirty="0"/>
              <a:t>Task:</a:t>
            </a:r>
            <a:r>
              <a:rPr lang="en-GB" dirty="0"/>
              <a:t> Find departments that currently have no students enrolled. This helps administrators identify empty programs.</a:t>
            </a:r>
          </a:p>
        </p:txBody>
      </p:sp>
      <p:sp>
        <p:nvSpPr>
          <p:cNvPr id="11" name="TextBox 10">
            <a:extLst>
              <a:ext uri="{FF2B5EF4-FFF2-40B4-BE49-F238E27FC236}">
                <a16:creationId xmlns:a16="http://schemas.microsoft.com/office/drawing/2014/main" id="{A9D4421F-16B8-F3FD-7FB2-8A29DE7A7529}"/>
              </a:ext>
            </a:extLst>
          </p:cNvPr>
          <p:cNvSpPr txBox="1"/>
          <p:nvPr/>
        </p:nvSpPr>
        <p:spPr>
          <a:xfrm>
            <a:off x="650534" y="5169735"/>
            <a:ext cx="10344150" cy="1200329"/>
          </a:xfrm>
          <a:prstGeom prst="rect">
            <a:avLst/>
          </a:prstGeom>
          <a:noFill/>
        </p:spPr>
        <p:txBody>
          <a:bodyPr wrap="square" rtlCol="0">
            <a:spAutoFit/>
          </a:bodyPr>
          <a:lstStyle/>
          <a:p>
            <a:r>
              <a:rPr lang="en-GB" b="1" dirty="0"/>
              <a:t>Now open SQL STUDIO and  answer the following question:</a:t>
            </a:r>
          </a:p>
          <a:p>
            <a:r>
              <a:rPr lang="en-GB" dirty="0"/>
              <a:t>Show all lab entry timestamps and the names of the students who made them. However, prioritize the </a:t>
            </a:r>
            <a:r>
              <a:rPr lang="en-GB" dirty="0" err="1"/>
              <a:t>lab_logs</a:t>
            </a:r>
            <a:r>
              <a:rPr lang="en-GB" dirty="0"/>
              <a:t> table (Right Join) and filter for entries that occurred in 'LAB-A'. If for some reason a log exists without a valid student (an orphan record), the log should still appear.</a:t>
            </a:r>
          </a:p>
        </p:txBody>
      </p:sp>
      <p:pic>
        <p:nvPicPr>
          <p:cNvPr id="4" name="Picture 3">
            <a:extLst>
              <a:ext uri="{FF2B5EF4-FFF2-40B4-BE49-F238E27FC236}">
                <a16:creationId xmlns:a16="http://schemas.microsoft.com/office/drawing/2014/main" id="{AF37F74C-6C00-016A-3A78-10C976ECACC8}"/>
              </a:ext>
            </a:extLst>
          </p:cNvPr>
          <p:cNvPicPr>
            <a:picLocks noChangeAspect="1"/>
          </p:cNvPicPr>
          <p:nvPr/>
        </p:nvPicPr>
        <p:blipFill>
          <a:blip r:embed="rId3"/>
          <a:stretch>
            <a:fillRect/>
          </a:stretch>
        </p:blipFill>
        <p:spPr>
          <a:xfrm>
            <a:off x="858667" y="2044165"/>
            <a:ext cx="5562600" cy="927100"/>
          </a:xfrm>
          <a:prstGeom prst="rect">
            <a:avLst/>
          </a:prstGeom>
        </p:spPr>
      </p:pic>
      <p:pic>
        <p:nvPicPr>
          <p:cNvPr id="5" name="Picture 4">
            <a:extLst>
              <a:ext uri="{FF2B5EF4-FFF2-40B4-BE49-F238E27FC236}">
                <a16:creationId xmlns:a16="http://schemas.microsoft.com/office/drawing/2014/main" id="{06292760-E12C-83F1-24A4-609C3DE46247}"/>
              </a:ext>
            </a:extLst>
          </p:cNvPr>
          <p:cNvPicPr>
            <a:picLocks noChangeAspect="1"/>
          </p:cNvPicPr>
          <p:nvPr/>
        </p:nvPicPr>
        <p:blipFill>
          <a:blip r:embed="rId4"/>
          <a:stretch>
            <a:fillRect/>
          </a:stretch>
        </p:blipFill>
        <p:spPr>
          <a:xfrm>
            <a:off x="858667" y="3846963"/>
            <a:ext cx="5486400" cy="1143000"/>
          </a:xfrm>
          <a:prstGeom prst="rect">
            <a:avLst/>
          </a:prstGeom>
        </p:spPr>
      </p:pic>
    </p:spTree>
    <p:extLst>
      <p:ext uri="{BB962C8B-B14F-4D97-AF65-F5344CB8AC3E}">
        <p14:creationId xmlns:p14="http://schemas.microsoft.com/office/powerpoint/2010/main" val="18393638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36A47-EC3B-DAF0-00D0-EC50CC4A18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F18C0E-8347-68F1-9752-CB9BEDFCF274}"/>
              </a:ext>
            </a:extLst>
          </p:cNvPr>
          <p:cNvSpPr>
            <a:spLocks noGrp="1"/>
          </p:cNvSpPr>
          <p:nvPr>
            <p:ph type="title"/>
          </p:nvPr>
        </p:nvSpPr>
        <p:spPr>
          <a:xfrm>
            <a:off x="650535" y="382387"/>
            <a:ext cx="10890929" cy="1097280"/>
          </a:xfrm>
        </p:spPr>
        <p:txBody>
          <a:bodyPr/>
          <a:lstStyle/>
          <a:p>
            <a:r>
              <a:rPr lang="en-GB" dirty="0"/>
              <a:t>QUESTION-FULL OUTER JOIN</a:t>
            </a:r>
          </a:p>
        </p:txBody>
      </p:sp>
      <p:sp>
        <p:nvSpPr>
          <p:cNvPr id="6" name="TextBox 5">
            <a:extLst>
              <a:ext uri="{FF2B5EF4-FFF2-40B4-BE49-F238E27FC236}">
                <a16:creationId xmlns:a16="http://schemas.microsoft.com/office/drawing/2014/main" id="{01CD3EB0-7C1E-961F-40DE-1B5559C6E65A}"/>
              </a:ext>
            </a:extLst>
          </p:cNvPr>
          <p:cNvSpPr txBox="1"/>
          <p:nvPr/>
        </p:nvSpPr>
        <p:spPr>
          <a:xfrm>
            <a:off x="650534" y="1336327"/>
            <a:ext cx="11065215" cy="646331"/>
          </a:xfrm>
          <a:prstGeom prst="rect">
            <a:avLst/>
          </a:prstGeom>
          <a:noFill/>
        </p:spPr>
        <p:txBody>
          <a:bodyPr wrap="square">
            <a:spAutoFit/>
          </a:bodyPr>
          <a:lstStyle/>
          <a:p>
            <a:pPr>
              <a:buNone/>
            </a:pPr>
            <a:r>
              <a:rPr lang="en-GB" b="1" dirty="0"/>
              <a:t>Task:</a:t>
            </a:r>
            <a:r>
              <a:rPr lang="en-GB" dirty="0"/>
              <a:t> List all students and all departments, matching them where possible, but showing everyone regardless of a match.</a:t>
            </a:r>
          </a:p>
        </p:txBody>
      </p:sp>
      <p:sp>
        <p:nvSpPr>
          <p:cNvPr id="8" name="TextBox 7">
            <a:extLst>
              <a:ext uri="{FF2B5EF4-FFF2-40B4-BE49-F238E27FC236}">
                <a16:creationId xmlns:a16="http://schemas.microsoft.com/office/drawing/2014/main" id="{33CD60F3-0A50-DBDE-3792-83920FDFCF2B}"/>
              </a:ext>
            </a:extLst>
          </p:cNvPr>
          <p:cNvSpPr txBox="1"/>
          <p:nvPr/>
        </p:nvSpPr>
        <p:spPr>
          <a:xfrm>
            <a:off x="650535" y="3078011"/>
            <a:ext cx="11541465" cy="646331"/>
          </a:xfrm>
          <a:prstGeom prst="rect">
            <a:avLst/>
          </a:prstGeom>
          <a:noFill/>
        </p:spPr>
        <p:txBody>
          <a:bodyPr wrap="square">
            <a:spAutoFit/>
          </a:bodyPr>
          <a:lstStyle/>
          <a:p>
            <a:r>
              <a:rPr lang="en-GB" b="1" dirty="0"/>
              <a:t>Task:</a:t>
            </a:r>
            <a:r>
              <a:rPr lang="en-GB" dirty="0"/>
              <a:t> Create a report to find "mismatches" in the system: show departments with no students AND students with no departments in a single result set.</a:t>
            </a:r>
          </a:p>
        </p:txBody>
      </p:sp>
      <p:sp>
        <p:nvSpPr>
          <p:cNvPr id="11" name="TextBox 10">
            <a:extLst>
              <a:ext uri="{FF2B5EF4-FFF2-40B4-BE49-F238E27FC236}">
                <a16:creationId xmlns:a16="http://schemas.microsoft.com/office/drawing/2014/main" id="{32C7A20B-3BB5-7EF4-1A27-A76009B6E5BC}"/>
              </a:ext>
            </a:extLst>
          </p:cNvPr>
          <p:cNvSpPr txBox="1"/>
          <p:nvPr/>
        </p:nvSpPr>
        <p:spPr>
          <a:xfrm>
            <a:off x="650534" y="5169735"/>
            <a:ext cx="10344150" cy="1477328"/>
          </a:xfrm>
          <a:prstGeom prst="rect">
            <a:avLst/>
          </a:prstGeom>
          <a:noFill/>
        </p:spPr>
        <p:txBody>
          <a:bodyPr wrap="square" rtlCol="0">
            <a:spAutoFit/>
          </a:bodyPr>
          <a:lstStyle/>
          <a:p>
            <a:r>
              <a:rPr lang="en-GB" b="1" dirty="0"/>
              <a:t>Now open SQL STUDIO and  answer the following question:</a:t>
            </a:r>
          </a:p>
          <a:p>
            <a:r>
              <a:rPr lang="en-GB" dirty="0"/>
              <a:t>Last week we discussed data integrity. Write a query using a FULL OUTER JOIN between students and </a:t>
            </a:r>
            <a:r>
              <a:rPr lang="en-GB" dirty="0" err="1"/>
              <a:t>lab_logs</a:t>
            </a:r>
            <a:r>
              <a:rPr lang="en-GB" dirty="0"/>
              <a:t> to find if there are any log entries that do not belong to an existing student (orphan records) while also listing students who have no logs. Filter the names to only show those starting with 'B' or 'D'.</a:t>
            </a:r>
          </a:p>
        </p:txBody>
      </p:sp>
      <p:pic>
        <p:nvPicPr>
          <p:cNvPr id="3" name="Picture 2">
            <a:extLst>
              <a:ext uri="{FF2B5EF4-FFF2-40B4-BE49-F238E27FC236}">
                <a16:creationId xmlns:a16="http://schemas.microsoft.com/office/drawing/2014/main" id="{4E136656-91C9-E2B3-DA9F-93228ADE990E}"/>
              </a:ext>
            </a:extLst>
          </p:cNvPr>
          <p:cNvPicPr>
            <a:picLocks noChangeAspect="1"/>
          </p:cNvPicPr>
          <p:nvPr/>
        </p:nvPicPr>
        <p:blipFill>
          <a:blip r:embed="rId3"/>
          <a:stretch>
            <a:fillRect/>
          </a:stretch>
        </p:blipFill>
        <p:spPr>
          <a:xfrm>
            <a:off x="773113" y="2030283"/>
            <a:ext cx="6045200" cy="901700"/>
          </a:xfrm>
          <a:prstGeom prst="rect">
            <a:avLst/>
          </a:prstGeom>
        </p:spPr>
      </p:pic>
      <p:pic>
        <p:nvPicPr>
          <p:cNvPr id="7" name="Picture 6">
            <a:extLst>
              <a:ext uri="{FF2B5EF4-FFF2-40B4-BE49-F238E27FC236}">
                <a16:creationId xmlns:a16="http://schemas.microsoft.com/office/drawing/2014/main" id="{AF8CF1CF-0977-9B6E-F0D9-7891C80EC764}"/>
              </a:ext>
            </a:extLst>
          </p:cNvPr>
          <p:cNvPicPr>
            <a:picLocks noChangeAspect="1"/>
          </p:cNvPicPr>
          <p:nvPr/>
        </p:nvPicPr>
        <p:blipFill>
          <a:blip r:embed="rId4"/>
          <a:stretch>
            <a:fillRect/>
          </a:stretch>
        </p:blipFill>
        <p:spPr>
          <a:xfrm>
            <a:off x="773113" y="3724342"/>
            <a:ext cx="6070600" cy="1231900"/>
          </a:xfrm>
          <a:prstGeom prst="rect">
            <a:avLst/>
          </a:prstGeom>
        </p:spPr>
      </p:pic>
    </p:spTree>
    <p:extLst>
      <p:ext uri="{BB962C8B-B14F-4D97-AF65-F5344CB8AC3E}">
        <p14:creationId xmlns:p14="http://schemas.microsoft.com/office/powerpoint/2010/main" val="4735653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B0127-31EE-1F6D-2FB6-95F9707EF59C}"/>
              </a:ext>
            </a:extLst>
          </p:cNvPr>
          <p:cNvSpPr>
            <a:spLocks noGrp="1"/>
          </p:cNvSpPr>
          <p:nvPr>
            <p:ph type="title"/>
          </p:nvPr>
        </p:nvSpPr>
        <p:spPr>
          <a:xfrm>
            <a:off x="650535" y="285751"/>
            <a:ext cx="10890929" cy="1097280"/>
          </a:xfrm>
        </p:spPr>
        <p:txBody>
          <a:bodyPr/>
          <a:lstStyle/>
          <a:p>
            <a:r>
              <a:rPr lang="en-GB" dirty="0"/>
              <a:t>Answers</a:t>
            </a:r>
          </a:p>
        </p:txBody>
      </p:sp>
      <p:sp>
        <p:nvSpPr>
          <p:cNvPr id="3" name="TextBox 2">
            <a:extLst>
              <a:ext uri="{FF2B5EF4-FFF2-40B4-BE49-F238E27FC236}">
                <a16:creationId xmlns:a16="http://schemas.microsoft.com/office/drawing/2014/main" id="{841EFF91-C02D-109D-A1A9-0B8B7996F139}"/>
              </a:ext>
            </a:extLst>
          </p:cNvPr>
          <p:cNvSpPr txBox="1"/>
          <p:nvPr/>
        </p:nvSpPr>
        <p:spPr>
          <a:xfrm>
            <a:off x="371951" y="5176004"/>
            <a:ext cx="5724048" cy="1754326"/>
          </a:xfrm>
          <a:prstGeom prst="rect">
            <a:avLst/>
          </a:prstGeom>
          <a:noFill/>
        </p:spPr>
        <p:txBody>
          <a:bodyPr wrap="square" rtlCol="0">
            <a:spAutoFit/>
          </a:bodyPr>
          <a:lstStyle/>
          <a:p>
            <a:r>
              <a:rPr lang="en-GB" dirty="0"/>
              <a:t>SELECT </a:t>
            </a:r>
            <a:r>
              <a:rPr lang="en-GB" dirty="0" err="1"/>
              <a:t>s.full_name</a:t>
            </a:r>
            <a:r>
              <a:rPr lang="en-GB" dirty="0"/>
              <a:t>, </a:t>
            </a:r>
            <a:r>
              <a:rPr lang="en-GB" dirty="0" err="1"/>
              <a:t>d.dept_name</a:t>
            </a:r>
            <a:endParaRPr lang="en-GB" dirty="0"/>
          </a:p>
          <a:p>
            <a:r>
              <a:rPr lang="en-GB" dirty="0"/>
              <a:t>FROM students s</a:t>
            </a:r>
          </a:p>
          <a:p>
            <a:r>
              <a:rPr lang="en-GB" dirty="0"/>
              <a:t>FULL OUTER JOIN departments d ON </a:t>
            </a:r>
          </a:p>
          <a:p>
            <a:r>
              <a:rPr lang="en-GB" dirty="0" err="1"/>
              <a:t>s.dept_id</a:t>
            </a:r>
            <a:r>
              <a:rPr lang="en-GB" dirty="0"/>
              <a:t> = </a:t>
            </a:r>
            <a:r>
              <a:rPr lang="en-GB" dirty="0" err="1"/>
              <a:t>d.dept_id</a:t>
            </a:r>
            <a:r>
              <a:rPr lang="en-GB" dirty="0"/>
              <a:t> WHERE </a:t>
            </a:r>
            <a:r>
              <a:rPr lang="en-GB" dirty="0" err="1"/>
              <a:t>s.student_id</a:t>
            </a:r>
            <a:r>
              <a:rPr lang="en-GB" dirty="0"/>
              <a:t> IS NULL </a:t>
            </a:r>
          </a:p>
          <a:p>
            <a:r>
              <a:rPr lang="en-GB" dirty="0"/>
              <a:t>OR </a:t>
            </a:r>
            <a:r>
              <a:rPr lang="en-GB" dirty="0" err="1"/>
              <a:t>d.dept_id</a:t>
            </a:r>
            <a:r>
              <a:rPr lang="en-GB" dirty="0"/>
              <a:t> IS NULL;</a:t>
            </a:r>
          </a:p>
          <a:p>
            <a:r>
              <a:rPr lang="en-GB" dirty="0"/>
              <a:t> </a:t>
            </a:r>
          </a:p>
        </p:txBody>
      </p:sp>
      <p:sp>
        <p:nvSpPr>
          <p:cNvPr id="5" name="TextBox 4">
            <a:extLst>
              <a:ext uri="{FF2B5EF4-FFF2-40B4-BE49-F238E27FC236}">
                <a16:creationId xmlns:a16="http://schemas.microsoft.com/office/drawing/2014/main" id="{A58E9D2D-DBB0-7940-EA53-46BEC8C32BB4}"/>
              </a:ext>
            </a:extLst>
          </p:cNvPr>
          <p:cNvSpPr txBox="1"/>
          <p:nvPr/>
        </p:nvSpPr>
        <p:spPr>
          <a:xfrm>
            <a:off x="5719287" y="5096262"/>
            <a:ext cx="6100762" cy="1200329"/>
          </a:xfrm>
          <a:prstGeom prst="rect">
            <a:avLst/>
          </a:prstGeom>
          <a:noFill/>
        </p:spPr>
        <p:txBody>
          <a:bodyPr wrap="square">
            <a:spAutoFit/>
          </a:bodyPr>
          <a:lstStyle/>
          <a:p>
            <a:r>
              <a:rPr lang="en-GB" dirty="0"/>
              <a:t>SELECT </a:t>
            </a:r>
            <a:r>
              <a:rPr lang="en-GB" dirty="0" err="1"/>
              <a:t>s.full_name</a:t>
            </a:r>
            <a:r>
              <a:rPr lang="en-GB" dirty="0"/>
              <a:t>, </a:t>
            </a:r>
            <a:r>
              <a:rPr lang="en-GB" dirty="0" err="1"/>
              <a:t>l.log_id</a:t>
            </a:r>
            <a:r>
              <a:rPr lang="en-GB" dirty="0"/>
              <a:t>, </a:t>
            </a:r>
            <a:r>
              <a:rPr lang="en-GB" dirty="0" err="1"/>
              <a:t>l.room_code</a:t>
            </a:r>
            <a:r>
              <a:rPr lang="en-GB" dirty="0"/>
              <a:t> FROM students s FULL OUTER JOIN </a:t>
            </a:r>
            <a:r>
              <a:rPr lang="en-GB" dirty="0" err="1"/>
              <a:t>lab_logs</a:t>
            </a:r>
            <a:r>
              <a:rPr lang="en-GB" dirty="0"/>
              <a:t> l ON </a:t>
            </a:r>
            <a:r>
              <a:rPr lang="en-GB" dirty="0" err="1"/>
              <a:t>s.student_id</a:t>
            </a:r>
            <a:r>
              <a:rPr lang="en-GB" dirty="0"/>
              <a:t> = </a:t>
            </a:r>
            <a:r>
              <a:rPr lang="en-GB" dirty="0" err="1"/>
              <a:t>l.student_id</a:t>
            </a:r>
            <a:r>
              <a:rPr lang="en-GB" dirty="0"/>
              <a:t> WHERE (</a:t>
            </a:r>
            <a:r>
              <a:rPr lang="en-GB" dirty="0" err="1"/>
              <a:t>s.student_id</a:t>
            </a:r>
            <a:r>
              <a:rPr lang="en-GB" dirty="0"/>
              <a:t> IS NULL OR </a:t>
            </a:r>
            <a:r>
              <a:rPr lang="en-GB" dirty="0" err="1"/>
              <a:t>l.log_id</a:t>
            </a:r>
            <a:r>
              <a:rPr lang="en-GB" dirty="0"/>
              <a:t> IS NULL) AND (</a:t>
            </a:r>
            <a:r>
              <a:rPr lang="en-GB" dirty="0" err="1"/>
              <a:t>s.full_name</a:t>
            </a:r>
            <a:r>
              <a:rPr lang="en-GB" dirty="0"/>
              <a:t> LIKE 'B%' OR </a:t>
            </a:r>
            <a:r>
              <a:rPr lang="en-GB" dirty="0" err="1"/>
              <a:t>s.full_name</a:t>
            </a:r>
            <a:r>
              <a:rPr lang="en-GB" dirty="0"/>
              <a:t> LIKE 'D%');</a:t>
            </a:r>
          </a:p>
        </p:txBody>
      </p:sp>
      <p:sp>
        <p:nvSpPr>
          <p:cNvPr id="7" name="TextBox 6">
            <a:extLst>
              <a:ext uri="{FF2B5EF4-FFF2-40B4-BE49-F238E27FC236}">
                <a16:creationId xmlns:a16="http://schemas.microsoft.com/office/drawing/2014/main" id="{A9E2589B-1BEC-93D5-0DAC-AA74C5223AAC}"/>
              </a:ext>
            </a:extLst>
          </p:cNvPr>
          <p:cNvSpPr txBox="1"/>
          <p:nvPr/>
        </p:nvSpPr>
        <p:spPr>
          <a:xfrm>
            <a:off x="371950" y="3935804"/>
            <a:ext cx="11350965" cy="646331"/>
          </a:xfrm>
          <a:prstGeom prst="rect">
            <a:avLst/>
          </a:prstGeom>
          <a:noFill/>
        </p:spPr>
        <p:txBody>
          <a:bodyPr wrap="square">
            <a:spAutoFit/>
          </a:bodyPr>
          <a:lstStyle/>
          <a:p>
            <a:r>
              <a:rPr lang="en-GB" dirty="0"/>
              <a:t>SELECT </a:t>
            </a:r>
            <a:r>
              <a:rPr lang="en-GB" dirty="0" err="1"/>
              <a:t>l.entry_time</a:t>
            </a:r>
            <a:r>
              <a:rPr lang="en-GB" dirty="0"/>
              <a:t>, </a:t>
            </a:r>
            <a:r>
              <a:rPr lang="en-GB" dirty="0" err="1"/>
              <a:t>l.room_code</a:t>
            </a:r>
            <a:r>
              <a:rPr lang="en-GB" dirty="0"/>
              <a:t>, </a:t>
            </a:r>
            <a:r>
              <a:rPr lang="en-GB" dirty="0" err="1"/>
              <a:t>s.full_name</a:t>
            </a:r>
            <a:r>
              <a:rPr lang="en-GB" dirty="0"/>
              <a:t> FROM students s RIGHT JOIN </a:t>
            </a:r>
            <a:r>
              <a:rPr lang="en-GB" dirty="0" err="1"/>
              <a:t>lab_logs</a:t>
            </a:r>
            <a:r>
              <a:rPr lang="en-GB" dirty="0"/>
              <a:t> l ON </a:t>
            </a:r>
            <a:r>
              <a:rPr lang="en-GB" dirty="0" err="1"/>
              <a:t>s.student_id</a:t>
            </a:r>
            <a:r>
              <a:rPr lang="en-GB" dirty="0"/>
              <a:t> = </a:t>
            </a:r>
            <a:r>
              <a:rPr lang="en-GB" dirty="0" err="1"/>
              <a:t>l.student_id</a:t>
            </a:r>
            <a:r>
              <a:rPr lang="en-GB" dirty="0"/>
              <a:t> WHERE </a:t>
            </a:r>
            <a:r>
              <a:rPr lang="en-GB" dirty="0" err="1"/>
              <a:t>l.room_code</a:t>
            </a:r>
            <a:r>
              <a:rPr lang="en-GB" dirty="0"/>
              <a:t> = 'LAB-A';</a:t>
            </a:r>
          </a:p>
        </p:txBody>
      </p:sp>
      <p:sp>
        <p:nvSpPr>
          <p:cNvPr id="8" name="TextBox 7">
            <a:extLst>
              <a:ext uri="{FF2B5EF4-FFF2-40B4-BE49-F238E27FC236}">
                <a16:creationId xmlns:a16="http://schemas.microsoft.com/office/drawing/2014/main" id="{9252C2BA-4B84-1143-7435-6E7659CE820F}"/>
              </a:ext>
            </a:extLst>
          </p:cNvPr>
          <p:cNvSpPr txBox="1"/>
          <p:nvPr/>
        </p:nvSpPr>
        <p:spPr>
          <a:xfrm>
            <a:off x="371950" y="4726930"/>
            <a:ext cx="2047355" cy="369332"/>
          </a:xfrm>
          <a:prstGeom prst="rect">
            <a:avLst/>
          </a:prstGeom>
          <a:noFill/>
        </p:spPr>
        <p:txBody>
          <a:bodyPr wrap="none" rtlCol="0">
            <a:spAutoFit/>
          </a:bodyPr>
          <a:lstStyle/>
          <a:p>
            <a:r>
              <a:rPr lang="en-GB" b="1" dirty="0"/>
              <a:t>FULL OUTER JOIN</a:t>
            </a:r>
          </a:p>
        </p:txBody>
      </p:sp>
      <p:sp>
        <p:nvSpPr>
          <p:cNvPr id="9" name="TextBox 8">
            <a:extLst>
              <a:ext uri="{FF2B5EF4-FFF2-40B4-BE49-F238E27FC236}">
                <a16:creationId xmlns:a16="http://schemas.microsoft.com/office/drawing/2014/main" id="{241170B5-F9CF-A51A-BE76-4AD114746BA3}"/>
              </a:ext>
            </a:extLst>
          </p:cNvPr>
          <p:cNvSpPr txBox="1"/>
          <p:nvPr/>
        </p:nvSpPr>
        <p:spPr>
          <a:xfrm>
            <a:off x="371949" y="3566472"/>
            <a:ext cx="1370888" cy="369332"/>
          </a:xfrm>
          <a:prstGeom prst="rect">
            <a:avLst/>
          </a:prstGeom>
          <a:noFill/>
        </p:spPr>
        <p:txBody>
          <a:bodyPr wrap="none" rtlCol="0">
            <a:spAutoFit/>
          </a:bodyPr>
          <a:lstStyle/>
          <a:p>
            <a:r>
              <a:rPr lang="en-GB" b="1" dirty="0"/>
              <a:t>RIGHT JOIN</a:t>
            </a:r>
          </a:p>
        </p:txBody>
      </p:sp>
      <p:sp>
        <p:nvSpPr>
          <p:cNvPr id="10" name="TextBox 9">
            <a:extLst>
              <a:ext uri="{FF2B5EF4-FFF2-40B4-BE49-F238E27FC236}">
                <a16:creationId xmlns:a16="http://schemas.microsoft.com/office/drawing/2014/main" id="{64273189-1BF1-3172-9917-B1753D613419}"/>
              </a:ext>
            </a:extLst>
          </p:cNvPr>
          <p:cNvSpPr txBox="1"/>
          <p:nvPr/>
        </p:nvSpPr>
        <p:spPr>
          <a:xfrm>
            <a:off x="371949" y="1289559"/>
            <a:ext cx="1415772" cy="369332"/>
          </a:xfrm>
          <a:prstGeom prst="rect">
            <a:avLst/>
          </a:prstGeom>
          <a:noFill/>
        </p:spPr>
        <p:txBody>
          <a:bodyPr wrap="none" rtlCol="0">
            <a:spAutoFit/>
          </a:bodyPr>
          <a:lstStyle/>
          <a:p>
            <a:r>
              <a:rPr lang="en-GB" b="1" dirty="0"/>
              <a:t>INNER JOIN</a:t>
            </a:r>
          </a:p>
        </p:txBody>
      </p:sp>
      <p:sp>
        <p:nvSpPr>
          <p:cNvPr id="11" name="TextBox 10">
            <a:extLst>
              <a:ext uri="{FF2B5EF4-FFF2-40B4-BE49-F238E27FC236}">
                <a16:creationId xmlns:a16="http://schemas.microsoft.com/office/drawing/2014/main" id="{5FEBAE49-FA9B-6681-0AE5-A34903F94F9B}"/>
              </a:ext>
            </a:extLst>
          </p:cNvPr>
          <p:cNvSpPr txBox="1"/>
          <p:nvPr/>
        </p:nvSpPr>
        <p:spPr>
          <a:xfrm>
            <a:off x="371949" y="2406014"/>
            <a:ext cx="1263038" cy="369332"/>
          </a:xfrm>
          <a:prstGeom prst="rect">
            <a:avLst/>
          </a:prstGeom>
          <a:noFill/>
        </p:spPr>
        <p:txBody>
          <a:bodyPr wrap="none" rtlCol="0">
            <a:spAutoFit/>
          </a:bodyPr>
          <a:lstStyle/>
          <a:p>
            <a:r>
              <a:rPr lang="en-GB" b="1" dirty="0"/>
              <a:t>LEFT JOIN</a:t>
            </a:r>
          </a:p>
        </p:txBody>
      </p:sp>
      <p:sp>
        <p:nvSpPr>
          <p:cNvPr id="12" name="TextBox 11">
            <a:extLst>
              <a:ext uri="{FF2B5EF4-FFF2-40B4-BE49-F238E27FC236}">
                <a16:creationId xmlns:a16="http://schemas.microsoft.com/office/drawing/2014/main" id="{5EF91A24-C5EA-9B4F-FBF1-C5A379955948}"/>
              </a:ext>
            </a:extLst>
          </p:cNvPr>
          <p:cNvSpPr txBox="1"/>
          <p:nvPr/>
        </p:nvSpPr>
        <p:spPr>
          <a:xfrm>
            <a:off x="371949" y="2782669"/>
            <a:ext cx="10587038" cy="646331"/>
          </a:xfrm>
          <a:prstGeom prst="rect">
            <a:avLst/>
          </a:prstGeom>
          <a:noFill/>
        </p:spPr>
        <p:txBody>
          <a:bodyPr wrap="square" rtlCol="0">
            <a:spAutoFit/>
          </a:bodyPr>
          <a:lstStyle/>
          <a:p>
            <a:r>
              <a:rPr lang="en-GB" dirty="0"/>
              <a:t>SELECT </a:t>
            </a:r>
            <a:r>
              <a:rPr lang="en-GB" dirty="0" err="1"/>
              <a:t>d.dept_name</a:t>
            </a:r>
            <a:r>
              <a:rPr lang="en-GB" dirty="0"/>
              <a:t>, COUNT(</a:t>
            </a:r>
            <a:r>
              <a:rPr lang="en-GB" dirty="0" err="1"/>
              <a:t>l.log_id</a:t>
            </a:r>
            <a:r>
              <a:rPr lang="en-GB" dirty="0"/>
              <a:t>) AS </a:t>
            </a:r>
            <a:r>
              <a:rPr lang="en-GB" dirty="0" err="1"/>
              <a:t>total_lab_entries</a:t>
            </a:r>
            <a:r>
              <a:rPr lang="en-GB" dirty="0"/>
              <a:t> FROM departments d LEFT JOIN students s ON </a:t>
            </a:r>
            <a:r>
              <a:rPr lang="en-GB" dirty="0" err="1"/>
              <a:t>d.dept_id</a:t>
            </a:r>
            <a:r>
              <a:rPr lang="en-GB" dirty="0"/>
              <a:t> = </a:t>
            </a:r>
            <a:r>
              <a:rPr lang="en-GB" dirty="0" err="1"/>
              <a:t>s.dept_id</a:t>
            </a:r>
            <a:r>
              <a:rPr lang="en-GB" dirty="0"/>
              <a:t> LEFT JOIN </a:t>
            </a:r>
            <a:r>
              <a:rPr lang="en-GB" dirty="0" err="1"/>
              <a:t>lab_logs</a:t>
            </a:r>
            <a:r>
              <a:rPr lang="en-GB" dirty="0"/>
              <a:t> l ON </a:t>
            </a:r>
            <a:r>
              <a:rPr lang="en-GB" dirty="0" err="1"/>
              <a:t>s.student_id</a:t>
            </a:r>
            <a:r>
              <a:rPr lang="en-GB" dirty="0"/>
              <a:t> = </a:t>
            </a:r>
            <a:r>
              <a:rPr lang="en-GB" dirty="0" err="1"/>
              <a:t>l.student_id</a:t>
            </a:r>
            <a:r>
              <a:rPr lang="en-GB" dirty="0"/>
              <a:t> GROUP BY </a:t>
            </a:r>
            <a:r>
              <a:rPr lang="en-GB" dirty="0" err="1"/>
              <a:t>d.dept_name</a:t>
            </a:r>
            <a:r>
              <a:rPr lang="en-GB" dirty="0"/>
              <a:t>;</a:t>
            </a:r>
          </a:p>
        </p:txBody>
      </p:sp>
      <p:sp>
        <p:nvSpPr>
          <p:cNvPr id="13" name="TextBox 12">
            <a:extLst>
              <a:ext uri="{FF2B5EF4-FFF2-40B4-BE49-F238E27FC236}">
                <a16:creationId xmlns:a16="http://schemas.microsoft.com/office/drawing/2014/main" id="{411B5CDD-2C2F-D14A-ABD0-10865D958733}"/>
              </a:ext>
            </a:extLst>
          </p:cNvPr>
          <p:cNvSpPr txBox="1"/>
          <p:nvPr/>
        </p:nvSpPr>
        <p:spPr>
          <a:xfrm>
            <a:off x="371949" y="1668377"/>
            <a:ext cx="11169515" cy="923330"/>
          </a:xfrm>
          <a:prstGeom prst="rect">
            <a:avLst/>
          </a:prstGeom>
          <a:noFill/>
        </p:spPr>
        <p:txBody>
          <a:bodyPr wrap="square" rtlCol="0">
            <a:spAutoFit/>
          </a:bodyPr>
          <a:lstStyle/>
          <a:p>
            <a:r>
              <a:rPr lang="en-GB" dirty="0"/>
              <a:t>SELECT DISTINCT </a:t>
            </a:r>
            <a:r>
              <a:rPr lang="en-GB" dirty="0" err="1"/>
              <a:t>s.full_name</a:t>
            </a:r>
            <a:r>
              <a:rPr lang="en-GB" dirty="0"/>
              <a:t>, </a:t>
            </a:r>
            <a:r>
              <a:rPr lang="en-GB" dirty="0" err="1"/>
              <a:t>d.dept_name</a:t>
            </a:r>
            <a:r>
              <a:rPr lang="en-GB" dirty="0"/>
              <a:t> FROM students s INNER JOIN departments d ON </a:t>
            </a:r>
            <a:r>
              <a:rPr lang="en-GB" dirty="0" err="1"/>
              <a:t>s.dept_id</a:t>
            </a:r>
            <a:r>
              <a:rPr lang="en-GB" dirty="0"/>
              <a:t> = </a:t>
            </a:r>
            <a:r>
              <a:rPr lang="en-GB" dirty="0" err="1"/>
              <a:t>d.dept_id</a:t>
            </a:r>
            <a:r>
              <a:rPr lang="en-GB" dirty="0"/>
              <a:t> INNER JOIN </a:t>
            </a:r>
            <a:r>
              <a:rPr lang="en-GB" dirty="0" err="1"/>
              <a:t>lab_logs</a:t>
            </a:r>
            <a:r>
              <a:rPr lang="en-GB" dirty="0"/>
              <a:t> l ON </a:t>
            </a:r>
            <a:r>
              <a:rPr lang="en-GB" dirty="0" err="1"/>
              <a:t>s.student_id</a:t>
            </a:r>
            <a:r>
              <a:rPr lang="en-GB" dirty="0"/>
              <a:t> = </a:t>
            </a:r>
            <a:r>
              <a:rPr lang="en-GB" dirty="0" err="1"/>
              <a:t>l.student_id</a:t>
            </a:r>
            <a:r>
              <a:rPr lang="en-GB" dirty="0"/>
              <a:t> WHERE </a:t>
            </a:r>
            <a:r>
              <a:rPr lang="en-GB" dirty="0" err="1"/>
              <a:t>s.full_name</a:t>
            </a:r>
            <a:r>
              <a:rPr lang="en-GB" dirty="0"/>
              <a:t> ILIKE '%</a:t>
            </a:r>
            <a:r>
              <a:rPr lang="en-GB" dirty="0" err="1"/>
              <a:t>i</a:t>
            </a:r>
            <a:r>
              <a:rPr lang="en-GB" dirty="0"/>
              <a:t>%';</a:t>
            </a:r>
          </a:p>
          <a:p>
            <a:endParaRPr lang="en-GB" dirty="0"/>
          </a:p>
        </p:txBody>
      </p:sp>
    </p:spTree>
    <p:extLst>
      <p:ext uri="{BB962C8B-B14F-4D97-AF65-F5344CB8AC3E}">
        <p14:creationId xmlns:p14="http://schemas.microsoft.com/office/powerpoint/2010/main" val="37713415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0" name="Rectangle 9">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A75F4D-0A35-E516-9AB4-244E71DD3E44}"/>
              </a:ext>
            </a:extLst>
          </p:cNvPr>
          <p:cNvSpPr>
            <a:spLocks noGrp="1"/>
          </p:cNvSpPr>
          <p:nvPr>
            <p:ph type="title"/>
          </p:nvPr>
        </p:nvSpPr>
        <p:spPr>
          <a:xfrm>
            <a:off x="1946564" y="1249217"/>
            <a:ext cx="8298873" cy="2258284"/>
          </a:xfrm>
        </p:spPr>
        <p:txBody>
          <a:bodyPr vert="horz" lIns="91440" tIns="45720" rIns="91440" bIns="45720" rtlCol="0" anchor="b">
            <a:normAutofit/>
          </a:bodyPr>
          <a:lstStyle/>
          <a:p>
            <a:pPr algn="ctr"/>
            <a:r>
              <a:rPr lang="en-US" sz="6600"/>
              <a:t>THE END</a:t>
            </a:r>
          </a:p>
        </p:txBody>
      </p:sp>
      <p:sp>
        <p:nvSpPr>
          <p:cNvPr id="3" name="Content Placeholder 2">
            <a:extLst>
              <a:ext uri="{FF2B5EF4-FFF2-40B4-BE49-F238E27FC236}">
                <a16:creationId xmlns:a16="http://schemas.microsoft.com/office/drawing/2014/main" id="{85B9C0F7-9430-BE53-E149-4E97F014A9E3}"/>
              </a:ext>
            </a:extLst>
          </p:cNvPr>
          <p:cNvSpPr>
            <a:spLocks noGrp="1"/>
          </p:cNvSpPr>
          <p:nvPr>
            <p:ph type="body" idx="1"/>
          </p:nvPr>
        </p:nvSpPr>
        <p:spPr>
          <a:xfrm>
            <a:off x="1946564" y="4490100"/>
            <a:ext cx="8298873" cy="1282843"/>
          </a:xfrm>
        </p:spPr>
        <p:txBody>
          <a:bodyPr vert="horz" lIns="91440" tIns="45720" rIns="91440" bIns="45720" rtlCol="0" anchor="t">
            <a:normAutofit/>
          </a:bodyPr>
          <a:lstStyle/>
          <a:p>
            <a:pPr algn="ctr"/>
            <a:r>
              <a:rPr lang="en-US" sz="1500" b="1" cap="all" spc="300" dirty="0"/>
              <a:t>Check out course website: https://</a:t>
            </a:r>
            <a:r>
              <a:rPr lang="en-US" sz="1500" b="1" cap="all" spc="300" dirty="0" err="1"/>
              <a:t>gazi</a:t>
            </a:r>
            <a:r>
              <a:rPr lang="en-US" sz="1500" b="1" cap="all" spc="300" dirty="0"/>
              <a:t>-end-</a:t>
            </a:r>
            <a:r>
              <a:rPr lang="en-US" sz="1500" b="1" cap="all" spc="300" dirty="0" err="1"/>
              <a:t>muh.github.io</a:t>
            </a:r>
            <a:endParaRPr lang="en-US" sz="1500" b="1" cap="all" spc="300" dirty="0"/>
          </a:p>
          <a:p>
            <a:pPr algn="ctr"/>
            <a:r>
              <a:rPr lang="en-US" sz="1500" b="1" cap="all" spc="300" dirty="0"/>
              <a:t>Got any questions later?  </a:t>
            </a:r>
          </a:p>
          <a:p>
            <a:pPr marL="0" lvl="1" algn="ctr">
              <a:spcBef>
                <a:spcPts val="1000"/>
              </a:spcBef>
            </a:pPr>
            <a:r>
              <a:rPr lang="en-US" sz="1500" b="1" cap="all" spc="300" dirty="0">
                <a:solidFill>
                  <a:schemeClr val="tx1"/>
                </a:solidFill>
              </a:rPr>
              <a:t>Send me an email: </a:t>
            </a:r>
            <a:r>
              <a:rPr lang="en-US" sz="1500" b="1" cap="all" spc="300" dirty="0" err="1">
                <a:solidFill>
                  <a:schemeClr val="tx1"/>
                </a:solidFill>
              </a:rPr>
              <a:t>dr.ercan.ezin@gmail.com</a:t>
            </a:r>
            <a:endParaRPr lang="en-US" sz="1500" b="1" cap="all" spc="300" dirty="0">
              <a:solidFill>
                <a:schemeClr val="tx1"/>
              </a:solidFill>
            </a:endParaRPr>
          </a:p>
        </p:txBody>
      </p:sp>
      <p:cxnSp>
        <p:nvCxnSpPr>
          <p:cNvPr id="12" name="Straight Connector 11">
            <a:extLst>
              <a:ext uri="{FF2B5EF4-FFF2-40B4-BE49-F238E27FC236}">
                <a16:creationId xmlns:a16="http://schemas.microsoft.com/office/drawing/2014/main" id="{5E10C1D6-7EDE-467F-89EA-E0244EB623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30240" y="4290504"/>
            <a:ext cx="731520" cy="0"/>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6486932"/>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2170</TotalTime>
  <Words>1669</Words>
  <Application>Microsoft Macintosh PowerPoint</Application>
  <PresentationFormat>Widescreen</PresentationFormat>
  <Paragraphs>143</Paragraphs>
  <Slides>30</Slides>
  <Notes>8</Notes>
  <HiddenSlides>2</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30</vt:i4>
      </vt:variant>
    </vt:vector>
  </HeadingPairs>
  <TitlesOfParts>
    <vt:vector size="39" baseType="lpstr">
      <vt:lpstr>Aptos</vt:lpstr>
      <vt:lpstr>Arial</vt:lpstr>
      <vt:lpstr>Calibri</vt:lpstr>
      <vt:lpstr>Calibri Light</vt:lpstr>
      <vt:lpstr>Consolas</vt:lpstr>
      <vt:lpstr>Grandview Display</vt:lpstr>
      <vt:lpstr>Monaco</vt:lpstr>
      <vt:lpstr>Verdana</vt:lpstr>
      <vt:lpstr>DashVTI</vt:lpstr>
      <vt:lpstr>GAZİ UNIVERSITY  FACULTY OF ENGINEERING DEPARTMENT OF INDUSTRIAL ENGINEERING</vt:lpstr>
      <vt:lpstr>PowerPoint Presentation</vt:lpstr>
      <vt:lpstr>JOINS</vt:lpstr>
      <vt:lpstr>JOINS</vt:lpstr>
      <vt:lpstr>JOINS</vt:lpstr>
      <vt:lpstr>JOINS</vt:lpstr>
      <vt:lpstr>INNER JOIN</vt:lpstr>
      <vt:lpstr>INNER JOIN</vt:lpstr>
      <vt:lpstr>INNER JOIN</vt:lpstr>
      <vt:lpstr>LEFT JOIN</vt:lpstr>
      <vt:lpstr>LEFT JOIN</vt:lpstr>
      <vt:lpstr>LEFT JOIN</vt:lpstr>
      <vt:lpstr>LEFT JOIN</vt:lpstr>
      <vt:lpstr>LEFT ANTI JOIN</vt:lpstr>
      <vt:lpstr>EXAMPLE JOIN QUERIES- Table creations</vt:lpstr>
      <vt:lpstr>QUESTION-INNER JOIN</vt:lpstr>
      <vt:lpstr>QUESTION-LEFT JOIN</vt:lpstr>
      <vt:lpstr>RIGHT JOIN</vt:lpstr>
      <vt:lpstr>RIGHT JOIN</vt:lpstr>
      <vt:lpstr>RIGHT JOIN</vt:lpstr>
      <vt:lpstr>RIGHT JOIN</vt:lpstr>
      <vt:lpstr>RIGHT ANTI JOIN</vt:lpstr>
      <vt:lpstr>FULL OUTER JOIN</vt:lpstr>
      <vt:lpstr>FULL OUTER JOIN</vt:lpstr>
      <vt:lpstr>FULL OUTER JOIN</vt:lpstr>
      <vt:lpstr>FULL ANTI JOIN</vt:lpstr>
      <vt:lpstr>QUESTION-RIGHT JOIN</vt:lpstr>
      <vt:lpstr>QUESTION-FULL OUTER JOIN</vt:lpstr>
      <vt:lpstr>Answers</vt:lpstr>
      <vt:lpstr>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Öğr. Gör. Dr. Ercan EZİN</dc:creator>
  <cp:lastModifiedBy>Öğr. Gör. Dr. Ercan EZİN</cp:lastModifiedBy>
  <cp:revision>473</cp:revision>
  <dcterms:created xsi:type="dcterms:W3CDTF">2026-02-08T15:49:04Z</dcterms:created>
  <dcterms:modified xsi:type="dcterms:W3CDTF">2026-04-26T11:53:49Z</dcterms:modified>
</cp:coreProperties>
</file>