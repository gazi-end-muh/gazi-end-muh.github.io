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26"/>
  </p:notesMasterIdLst>
  <p:sldIdLst>
    <p:sldId id="256" r:id="rId2"/>
    <p:sldId id="409" r:id="rId3"/>
    <p:sldId id="410" r:id="rId4"/>
    <p:sldId id="411" r:id="rId5"/>
    <p:sldId id="412" r:id="rId6"/>
    <p:sldId id="414" r:id="rId7"/>
    <p:sldId id="415" r:id="rId8"/>
    <p:sldId id="430" r:id="rId9"/>
    <p:sldId id="413" r:id="rId10"/>
    <p:sldId id="416" r:id="rId11"/>
    <p:sldId id="417" r:id="rId12"/>
    <p:sldId id="418" r:id="rId13"/>
    <p:sldId id="419" r:id="rId14"/>
    <p:sldId id="420" r:id="rId15"/>
    <p:sldId id="421" r:id="rId16"/>
    <p:sldId id="427" r:id="rId17"/>
    <p:sldId id="426" r:id="rId18"/>
    <p:sldId id="428" r:id="rId19"/>
    <p:sldId id="429" r:id="rId20"/>
    <p:sldId id="423" r:id="rId21"/>
    <p:sldId id="425" r:id="rId22"/>
    <p:sldId id="432" r:id="rId23"/>
    <p:sldId id="431" r:id="rId24"/>
    <p:sldId id="2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86980"/>
  </p:normalViewPr>
  <p:slideViewPr>
    <p:cSldViewPr snapToGrid="0">
      <p:cViewPr varScale="1">
        <p:scale>
          <a:sx n="124" d="100"/>
          <a:sy n="124" d="100"/>
        </p:scale>
        <p:origin x="11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A5777-35FB-3B44-94AE-39F67960B30D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A9687-AE99-D74E-ABB0-43A2ABE9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77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A9687-AE99-D74E-ABB0-43A2ABE9B3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110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A9687-AE99-D74E-ABB0-43A2ABE9B3E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08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4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94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5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5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2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0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1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9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86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79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46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33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46B7-E1E2-7324-4AB1-9B7F40B89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075" y="1436674"/>
            <a:ext cx="10145849" cy="2919564"/>
          </a:xfrm>
        </p:spPr>
        <p:txBody>
          <a:bodyPr anchor="t">
            <a:noAutofit/>
          </a:bodyPr>
          <a:lstStyle/>
          <a:p>
            <a:pPr algn="ctr"/>
            <a:r>
              <a:rPr lang="en-GB" sz="4400" dirty="0">
                <a:latin typeface="Monaco" pitchFamily="2" charset="77"/>
                <a:cs typeface="Consolas" panose="020B0609020204030204" pitchFamily="49" charset="0"/>
              </a:rPr>
              <a:t>GAZİ UNIVERSITY</a:t>
            </a:r>
            <a:br>
              <a:rPr lang="en-GB" sz="4400" dirty="0">
                <a:latin typeface="Monaco" pitchFamily="2" charset="77"/>
                <a:cs typeface="Consolas" panose="020B0609020204030204" pitchFamily="49" charset="0"/>
              </a:rPr>
            </a:br>
            <a:br>
              <a:rPr lang="en-GB" sz="4400" dirty="0">
                <a:latin typeface="Monaco" pitchFamily="2" charset="77"/>
                <a:cs typeface="Consolas" panose="020B0609020204030204" pitchFamily="49" charset="0"/>
              </a:rPr>
            </a:br>
            <a:r>
              <a:rPr lang="en-GB" sz="4400" dirty="0">
                <a:latin typeface="Monaco" pitchFamily="2" charset="77"/>
              </a:rPr>
              <a:t>FACULTY OF ENGINEERING</a:t>
            </a:r>
            <a:br>
              <a:rPr lang="en-GB" sz="4400" dirty="0">
                <a:latin typeface="Monaco" pitchFamily="2" charset="77"/>
              </a:rPr>
            </a:br>
            <a:r>
              <a:rPr lang="en-GB" sz="4400" dirty="0">
                <a:latin typeface="Monaco" pitchFamily="2" charset="77"/>
                <a:ea typeface="Cambria Math" panose="02040503050406030204" pitchFamily="18" charset="0"/>
              </a:rPr>
              <a:t>DEPARTMENT OF INDUSTRIAL ENGINEERING</a:t>
            </a:r>
            <a:endParaRPr lang="en-GB" sz="4400" dirty="0">
              <a:latin typeface="Monaco" pitchFamily="2" charset="77"/>
              <a:ea typeface="Cambria Math" panose="02040503050406030204" pitchFamily="18" charset="0"/>
              <a:cs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19F2F-6A96-8A6F-5ACD-C9AACA119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5128" y="4812106"/>
            <a:ext cx="6400223" cy="1334655"/>
          </a:xfrm>
        </p:spPr>
        <p:txBody>
          <a:bodyPr anchor="b">
            <a:normAutofit/>
          </a:bodyPr>
          <a:lstStyle/>
          <a:p>
            <a:r>
              <a:rPr lang="en-GB" dirty="0"/>
              <a:t>IE104-COMPUTER PROGRAMMING I</a:t>
            </a:r>
          </a:p>
        </p:txBody>
      </p:sp>
      <p:pic>
        <p:nvPicPr>
          <p:cNvPr id="1028" name="Picture 4" descr="Gazi University | Study in Turkey | Find And Study – No Exam, Public &amp;  Private Universities">
            <a:extLst>
              <a:ext uri="{FF2B5EF4-FFF2-40B4-BE49-F238E27FC236}">
                <a16:creationId xmlns:a16="http://schemas.microsoft.com/office/drawing/2014/main" id="{27004BED-D625-39FF-01A4-AB83332F9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6" t="5199" r="18557" b="5816"/>
          <a:stretch>
            <a:fillRect/>
          </a:stretch>
        </p:blipFill>
        <p:spPr bwMode="auto">
          <a:xfrm>
            <a:off x="3371335" y="711119"/>
            <a:ext cx="5449330" cy="49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836926-0789-AE8C-3965-5009FA750AA5}"/>
              </a:ext>
            </a:extLst>
          </p:cNvPr>
          <p:cNvSpPr txBox="1"/>
          <p:nvPr/>
        </p:nvSpPr>
        <p:spPr>
          <a:xfrm>
            <a:off x="5215128" y="6387776"/>
            <a:ext cx="6050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cap="all" spc="300" dirty="0"/>
              <a:t>WEEK 12: FILE AND EXCEPTION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96DE3-A5C8-493A-FB13-6829E88BDD9B}"/>
              </a:ext>
            </a:extLst>
          </p:cNvPr>
          <p:cNvSpPr txBox="1"/>
          <p:nvPr/>
        </p:nvSpPr>
        <p:spPr>
          <a:xfrm>
            <a:off x="576649" y="5916804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Lecturer : Dr Ercan Ezin</a:t>
            </a:r>
          </a:p>
        </p:txBody>
      </p:sp>
    </p:spTree>
    <p:extLst>
      <p:ext uri="{BB962C8B-B14F-4D97-AF65-F5344CB8AC3E}">
        <p14:creationId xmlns:p14="http://schemas.microsoft.com/office/powerpoint/2010/main" val="26578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DBE8-6610-38BC-1002-71CE63EB4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400" dirty="0"/>
              <a:t>Attendance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A2A74-FC8A-85A9-5199-2C0D4E75C498}"/>
              </a:ext>
            </a:extLst>
          </p:cNvPr>
          <p:cNvSpPr txBox="1"/>
          <p:nvPr/>
        </p:nvSpPr>
        <p:spPr>
          <a:xfrm>
            <a:off x="640079" y="4304538"/>
            <a:ext cx="3156857" cy="13624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GB" b="1" cap="all" spc="300" dirty="0"/>
              <a:t>Please do not share the link to anyone!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7F310C2E-F229-6B58-D28D-5405AC511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015" y="195692"/>
            <a:ext cx="6250048" cy="62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7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073E-24F9-DC5B-15DA-E74AE006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46070"/>
            <a:ext cx="10890929" cy="1097280"/>
          </a:xfrm>
        </p:spPr>
        <p:txBody>
          <a:bodyPr/>
          <a:lstStyle/>
          <a:p>
            <a:r>
              <a:rPr lang="en-GB" dirty="0"/>
              <a:t>FILE HANDLING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19230E-4156-7618-63FB-2219DDF30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91" y="1254814"/>
            <a:ext cx="10514220" cy="537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76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EF22-A514-189A-FDD2-A77FB5B0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D288-BC35-C09D-F536-9680F600A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91" y="400640"/>
            <a:ext cx="10890929" cy="1097280"/>
          </a:xfrm>
        </p:spPr>
        <p:txBody>
          <a:bodyPr/>
          <a:lstStyle/>
          <a:p>
            <a:r>
              <a:rPr lang="en-GB" dirty="0"/>
              <a:t>FILE HANDLING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F365D-20A6-3DB7-66C0-780436D9BDAE}"/>
              </a:ext>
            </a:extLst>
          </p:cNvPr>
          <p:cNvSpPr txBox="1"/>
          <p:nvPr/>
        </p:nvSpPr>
        <p:spPr>
          <a:xfrm>
            <a:off x="726979" y="1315981"/>
            <a:ext cx="10890929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C# uses the </a:t>
            </a:r>
            <a:r>
              <a:rPr lang="en-GB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System.IO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 namespace for file and directory operations. Commonly used classes include:</a:t>
            </a:r>
          </a:p>
          <a:p>
            <a:pPr marL="285750" indent="-285750" algn="l" fontAlgn="base">
              <a:spcAft>
                <a:spcPts val="1800"/>
              </a:spcAft>
              <a:buFont typeface="Wingdings" pitchFamily="2" charset="2"/>
              <a:buChar char="Ø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File: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 Provides static methods for creating, copying, deleting, moving and opening files.</a:t>
            </a:r>
          </a:p>
          <a:p>
            <a:pPr marL="285750" indent="-285750" algn="l" fontAlgn="base">
              <a:spcAft>
                <a:spcPts val="1800"/>
              </a:spcAft>
              <a:buFont typeface="Wingdings" pitchFamily="2" charset="2"/>
              <a:buChar char="Ø"/>
            </a:pPr>
            <a:r>
              <a:rPr lang="en-GB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FileInfo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 Provides instance methods for file operations with additional </a:t>
            </a:r>
            <a:r>
              <a:rPr lang="en-GB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objec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 t-oriented features.</a:t>
            </a:r>
          </a:p>
          <a:p>
            <a:pPr marL="285750" indent="-285750" algn="l" fontAlgn="base">
              <a:spcAft>
                <a:spcPts val="1800"/>
              </a:spcAft>
              <a:buFont typeface="Wingdings" pitchFamily="2" charset="2"/>
              <a:buChar char="Ø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Directory: 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Provides static methods for creating, moving and enumerating directories.</a:t>
            </a:r>
          </a:p>
          <a:p>
            <a:pPr marL="285750" indent="-285750" algn="l" fontAlgn="base">
              <a:spcAft>
                <a:spcPts val="1800"/>
              </a:spcAft>
              <a:buFont typeface="Wingdings" pitchFamily="2" charset="2"/>
              <a:buChar char="Ø"/>
            </a:pPr>
            <a:r>
              <a:rPr lang="en-GB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DirectoryInfo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 Provides instance methods for directory operations.</a:t>
            </a:r>
          </a:p>
          <a:p>
            <a:pPr marL="285750" indent="-285750" algn="l" fontAlgn="base">
              <a:spcAft>
                <a:spcPts val="1800"/>
              </a:spcAft>
              <a:buFont typeface="Wingdings" pitchFamily="2" charset="2"/>
              <a:buChar char="Ø"/>
            </a:pPr>
            <a:r>
              <a:rPr lang="en-GB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StreamReader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 / </a:t>
            </a:r>
            <a:r>
              <a:rPr lang="en-GB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StreamWriter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: 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For reading and writing text files.</a:t>
            </a:r>
          </a:p>
          <a:p>
            <a:pPr marL="285750" indent="-285750" algn="l" fontAlgn="base">
              <a:spcAft>
                <a:spcPts val="1800"/>
              </a:spcAft>
              <a:buFont typeface="Wingdings" pitchFamily="2" charset="2"/>
              <a:buChar char="Ø"/>
            </a:pPr>
            <a:r>
              <a:rPr lang="en-GB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BinaryReader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 / </a:t>
            </a:r>
            <a:r>
              <a:rPr lang="en-GB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BinaryWriter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 For reading and writing binary files.</a:t>
            </a:r>
          </a:p>
          <a:p>
            <a:pPr marL="285750" indent="-285750" algn="l" fontAlgn="base">
              <a:spcAft>
                <a:spcPts val="1800"/>
              </a:spcAft>
              <a:buFont typeface="Wingdings" pitchFamily="2" charset="2"/>
              <a:buChar char="Ø"/>
            </a:pPr>
            <a:r>
              <a:rPr lang="en-GB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FileStream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: 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For reading and writing to files at a lower level.</a:t>
            </a:r>
          </a:p>
        </p:txBody>
      </p:sp>
    </p:spTree>
    <p:extLst>
      <p:ext uri="{BB962C8B-B14F-4D97-AF65-F5344CB8AC3E}">
        <p14:creationId xmlns:p14="http://schemas.microsoft.com/office/powerpoint/2010/main" val="278476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638D-9CAB-0888-2603-F500D511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9F62-6EC0-E0E1-AAD9-213F7AF8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62933"/>
            <a:ext cx="10890929" cy="1097280"/>
          </a:xfrm>
        </p:spPr>
        <p:txBody>
          <a:bodyPr/>
          <a:lstStyle/>
          <a:p>
            <a:r>
              <a:rPr lang="en-GB" dirty="0"/>
              <a:t>CREATING A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251BC3-11F5-D7F6-B657-32AFDFFE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13"/>
          <a:stretch>
            <a:fillRect/>
          </a:stretch>
        </p:blipFill>
        <p:spPr>
          <a:xfrm>
            <a:off x="753686" y="1247939"/>
            <a:ext cx="10440531" cy="3955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1A146D-68B2-2595-6D4E-F7FA7C2FA0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723"/>
          <a:stretch>
            <a:fillRect/>
          </a:stretch>
        </p:blipFill>
        <p:spPr>
          <a:xfrm>
            <a:off x="650535" y="5439264"/>
            <a:ext cx="10440531" cy="906543"/>
          </a:xfrm>
          <a:prstGeom prst="rect">
            <a:avLst/>
          </a:prstGeom>
        </p:spPr>
      </p:pic>
      <p:sp useBgFill="1">
        <p:nvSpPr>
          <p:cNvPr id="5" name="TextBox 4">
            <a:extLst>
              <a:ext uri="{FF2B5EF4-FFF2-40B4-BE49-F238E27FC236}">
                <a16:creationId xmlns:a16="http://schemas.microsoft.com/office/drawing/2014/main" id="{12F48F1B-0E4C-77DE-5179-B6514CF8178D}"/>
              </a:ext>
            </a:extLst>
          </p:cNvPr>
          <p:cNvSpPr txBox="1"/>
          <p:nvPr/>
        </p:nvSpPr>
        <p:spPr>
          <a:xfrm>
            <a:off x="6854695" y="1951672"/>
            <a:ext cx="5337305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GB" dirty="0"/>
              <a:t>Another method, </a:t>
            </a:r>
            <a:r>
              <a:rPr lang="en-GB" b="1" dirty="0" err="1"/>
              <a:t>File.WriteAllLines</a:t>
            </a:r>
            <a:r>
              <a:rPr lang="en-GB" dirty="0"/>
              <a:t>, is used to write an array of strings as individual lines. In contrast, </a:t>
            </a:r>
            <a:r>
              <a:rPr lang="en-GB" b="1" dirty="0" err="1"/>
              <a:t>File.WriteAllText</a:t>
            </a:r>
            <a:r>
              <a:rPr lang="en-GB" dirty="0"/>
              <a:t> writes a single string exactly as provided, without adding any extra formatting or line breaks.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E7BE50-3B0E-6C93-92D5-C4DEDDA0AF7F}"/>
              </a:ext>
            </a:extLst>
          </p:cNvPr>
          <p:cNvCxnSpPr/>
          <p:nvPr/>
        </p:nvCxnSpPr>
        <p:spPr>
          <a:xfrm flipV="1">
            <a:off x="5250094" y="2690336"/>
            <a:ext cx="1604601" cy="1234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38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7697-4E88-C86F-6F93-02C441BE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10B0-399D-23E5-3271-9C617DD6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419494"/>
            <a:ext cx="10890929" cy="1097280"/>
          </a:xfrm>
        </p:spPr>
        <p:txBody>
          <a:bodyPr/>
          <a:lstStyle/>
          <a:p>
            <a:r>
              <a:rPr lang="en-GB" dirty="0"/>
              <a:t>WRITING LINES TO A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F0CA87-F5F9-72A4-CCAD-87B819C1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42" y="1212850"/>
            <a:ext cx="7976452" cy="5070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70A7B2-50CE-EB71-9FD5-AA7E6C0FF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58" y="6121400"/>
            <a:ext cx="7289800" cy="7366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963C01-6EC1-309D-18CB-865E8125AE6C}"/>
              </a:ext>
            </a:extLst>
          </p:cNvPr>
          <p:cNvCxnSpPr/>
          <p:nvPr/>
        </p:nvCxnSpPr>
        <p:spPr>
          <a:xfrm flipV="1">
            <a:off x="2743200" y="2318994"/>
            <a:ext cx="6287678" cy="133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C72085-E341-9EE2-461C-76697CB3A718}"/>
              </a:ext>
            </a:extLst>
          </p:cNvPr>
          <p:cNvSpPr txBox="1"/>
          <p:nvPr/>
        </p:nvSpPr>
        <p:spPr>
          <a:xfrm>
            <a:off x="9323109" y="2271859"/>
            <a:ext cx="24778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</a:t>
            </a:r>
            <a:r>
              <a:rPr lang="en-GB" b="1" dirty="0"/>
              <a:t>using</a:t>
            </a:r>
            <a:r>
              <a:rPr lang="en-GB" dirty="0"/>
              <a:t> keyword creates an object within a specific block of code, assigns it to a variable, and ensures it is automatically closed once the block finishes.</a:t>
            </a:r>
          </a:p>
        </p:txBody>
      </p:sp>
    </p:spTree>
    <p:extLst>
      <p:ext uri="{BB962C8B-B14F-4D97-AF65-F5344CB8AC3E}">
        <p14:creationId xmlns:p14="http://schemas.microsoft.com/office/powerpoint/2010/main" val="419830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99CE-296F-3118-86BF-7656F64C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1D5E-A9E3-9B44-BCB2-D8F150FC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410067"/>
            <a:ext cx="10890929" cy="1097280"/>
          </a:xfrm>
        </p:spPr>
        <p:txBody>
          <a:bodyPr/>
          <a:lstStyle/>
          <a:p>
            <a:r>
              <a:rPr lang="en-GB" dirty="0"/>
              <a:t>READING LINES FROM A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D62DC-DEC3-1F4D-9A24-61169F497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34" y="1185477"/>
            <a:ext cx="10114875" cy="4487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90E1F-049B-9975-1F94-CDBD79703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39" y="5762132"/>
            <a:ext cx="7043270" cy="874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2D4294-2454-5AB5-FDE4-D55BE886CE35}"/>
              </a:ext>
            </a:extLst>
          </p:cNvPr>
          <p:cNvSpPr txBox="1"/>
          <p:nvPr/>
        </p:nvSpPr>
        <p:spPr>
          <a:xfrm>
            <a:off x="7371761" y="4871548"/>
            <a:ext cx="4719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 try to write this example with </a:t>
            </a:r>
            <a:r>
              <a:rPr lang="en-GB" dirty="0" err="1"/>
              <a:t>ReadLine</a:t>
            </a:r>
            <a:r>
              <a:rPr lang="en-GB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7512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C47A-A742-720A-CF4A-F8212C6D8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96945"/>
            <a:ext cx="10890929" cy="1097280"/>
          </a:xfrm>
        </p:spPr>
        <p:txBody>
          <a:bodyPr/>
          <a:lstStyle/>
          <a:p>
            <a:r>
              <a:rPr lang="en-GB" dirty="0"/>
              <a:t>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2BB42-E767-9F36-8310-C7F61DF94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170927"/>
            <a:ext cx="7772400" cy="500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27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01395-0414-9D3B-7DC2-D4D63362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BB5D-55FD-D069-506C-79035058B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62933"/>
            <a:ext cx="10890929" cy="1097280"/>
          </a:xfrm>
        </p:spPr>
        <p:txBody>
          <a:bodyPr/>
          <a:lstStyle/>
          <a:p>
            <a:r>
              <a:rPr lang="en-GB" dirty="0"/>
              <a:t>APPENDING NEW LINE TO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29F6F-9BF0-DD0A-EF88-DA018323A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43" y="1314320"/>
            <a:ext cx="6584397" cy="4737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272488-3612-19BB-1D84-880CC462442C}"/>
              </a:ext>
            </a:extLst>
          </p:cNvPr>
          <p:cNvSpPr txBox="1"/>
          <p:nvPr/>
        </p:nvSpPr>
        <p:spPr>
          <a:xfrm>
            <a:off x="7791253" y="3105834"/>
            <a:ext cx="3750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GB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Appending adds data without deleting existing content.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B2914C-55C1-8A7F-752E-2577B2685071}"/>
              </a:ext>
            </a:extLst>
          </p:cNvPr>
          <p:cNvSpPr txBox="1"/>
          <p:nvPr/>
        </p:nvSpPr>
        <p:spPr>
          <a:xfrm>
            <a:off x="7909088" y="5467546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the output of this code?</a:t>
            </a:r>
          </a:p>
        </p:txBody>
      </p:sp>
    </p:spTree>
    <p:extLst>
      <p:ext uri="{BB962C8B-B14F-4D97-AF65-F5344CB8AC3E}">
        <p14:creationId xmlns:p14="http://schemas.microsoft.com/office/powerpoint/2010/main" val="274765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07F59-F206-3079-3564-4FA58EE8E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A75A-E9B3-FE30-FF30-2B11DC92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53506"/>
            <a:ext cx="10890929" cy="1097280"/>
          </a:xfrm>
        </p:spPr>
        <p:txBody>
          <a:bodyPr/>
          <a:lstStyle/>
          <a:p>
            <a:r>
              <a:rPr lang="en-GB" dirty="0"/>
              <a:t>MANAGING FILE PATHS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F925D-4911-9296-B287-05F11C490015}"/>
              </a:ext>
            </a:extLst>
          </p:cNvPr>
          <p:cNvSpPr txBox="1"/>
          <p:nvPr/>
        </p:nvSpPr>
        <p:spPr>
          <a:xfrm>
            <a:off x="650535" y="1162648"/>
            <a:ext cx="11057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It is crucial to manage paths to ensure that your application can locate and access files accurately. The .NET framework provides useful methods in the </a:t>
            </a:r>
            <a:r>
              <a:rPr lang="en-GB" b="1" i="0" dirty="0" err="1">
                <a:solidFill>
                  <a:srgbClr val="242424"/>
                </a:solidFill>
                <a:effectLst/>
                <a:latin typeface="source-serif-pro"/>
              </a:rPr>
              <a:t>System.IO.Path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class for manipulating file and directory paths.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4A28B-E269-8856-6B29-467105157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460" y="1959729"/>
            <a:ext cx="7772400" cy="472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34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13DAC-608E-8B60-8A28-340C9D4B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B6C0-91BE-90AD-37EC-24E966A3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65" y="344079"/>
            <a:ext cx="10890929" cy="1097280"/>
          </a:xfrm>
        </p:spPr>
        <p:txBody>
          <a:bodyPr/>
          <a:lstStyle/>
          <a:p>
            <a:r>
              <a:rPr lang="en-GB" dirty="0"/>
              <a:t>GET FILE NAME AND EXTENSION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73CE8D-9812-8138-C454-5C337A95B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06" y="1191429"/>
            <a:ext cx="7144402" cy="28153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CF1B7B-320C-5D38-64F6-A260CB184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6" y="4006807"/>
            <a:ext cx="6786184" cy="269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1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422B-0939-9155-E191-A6886D8F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9B62-91D9-9820-E01A-3E5B1EC8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18" y="381786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GB" dirty="0"/>
              <a:t>Checking the Existence of Files and Directories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F5B3F-7183-6CEC-FB45-FCCFD7198F76}"/>
              </a:ext>
            </a:extLst>
          </p:cNvPr>
          <p:cNvSpPr txBox="1"/>
          <p:nvPr/>
        </p:nvSpPr>
        <p:spPr>
          <a:xfrm>
            <a:off x="583517" y="1206879"/>
            <a:ext cx="11105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When working with files or directories in C#, it’s always a good practice to check if they exist beforehand.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.NET framework offers built-in methods to perform these checks efficiently.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1EAC6-A8EA-6D08-02EA-1C483963A421}"/>
              </a:ext>
            </a:extLst>
          </p:cNvPr>
          <p:cNvSpPr txBox="1"/>
          <p:nvPr/>
        </p:nvSpPr>
        <p:spPr>
          <a:xfrm>
            <a:off x="583517" y="2077610"/>
            <a:ext cx="8428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/>
              <a:t>Check Whether a File Exists:</a:t>
            </a:r>
          </a:p>
          <a:p>
            <a:br>
              <a:rPr lang="en-GB" dirty="0"/>
            </a:b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The </a:t>
            </a:r>
            <a:r>
              <a:rPr lang="en-GB" b="0" i="0" dirty="0" err="1">
                <a:solidFill>
                  <a:srgbClr val="242424"/>
                </a:solidFill>
                <a:effectLst/>
                <a:latin typeface="source-serif-pro"/>
              </a:rPr>
              <a:t>Sytem.IO.</a:t>
            </a:r>
            <a:r>
              <a:rPr lang="en-GB" b="1" i="0" dirty="0" err="1">
                <a:solidFill>
                  <a:srgbClr val="242424"/>
                </a:solidFill>
                <a:effectLst/>
                <a:latin typeface="source-serif-pro"/>
              </a:rPr>
              <a:t>File.Exists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method checks if a file exists at a specified path. Consider that we have using </a:t>
            </a:r>
            <a:r>
              <a:rPr lang="en-GB" b="0" i="0" dirty="0" err="1">
                <a:solidFill>
                  <a:srgbClr val="242424"/>
                </a:solidFill>
                <a:effectLst/>
                <a:latin typeface="source-serif-pro"/>
              </a:rPr>
              <a:t>Sytem.IO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 added above the class for the following code: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E3FC6E-F4D0-8466-020D-665FF70D9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97" y="3429000"/>
            <a:ext cx="5415044" cy="272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89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2D5F-B90C-5E8D-E260-4A5C12584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17815F-625D-EBEF-6329-7F9F9DE0AA14}"/>
              </a:ext>
            </a:extLst>
          </p:cNvPr>
          <p:cNvSpPr txBox="1"/>
          <p:nvPr/>
        </p:nvSpPr>
        <p:spPr>
          <a:xfrm>
            <a:off x="740003" y="1301467"/>
            <a:ext cx="9893431" cy="92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b="1" i="0" dirty="0">
                <a:solidFill>
                  <a:srgbClr val="242424"/>
                </a:solidFill>
                <a:effectLst/>
                <a:latin typeface="sohne"/>
              </a:rPr>
              <a:t>Check Whether a Directory Exists:</a:t>
            </a:r>
          </a:p>
          <a:p>
            <a:pPr algn="l">
              <a:lnSpc>
                <a:spcPts val="2400"/>
              </a:lnSpc>
              <a:buNone/>
            </a:pP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The </a:t>
            </a:r>
            <a:r>
              <a:rPr lang="en-GB" b="0" i="0" dirty="0" err="1">
                <a:solidFill>
                  <a:srgbClr val="242424"/>
                </a:solidFill>
                <a:effectLst/>
                <a:latin typeface="source-serif-pro"/>
              </a:rPr>
              <a:t>System.IO.</a:t>
            </a:r>
            <a:r>
              <a:rPr lang="en-GB" b="1" i="0" dirty="0" err="1">
                <a:solidFill>
                  <a:srgbClr val="242424"/>
                </a:solidFill>
                <a:effectLst/>
                <a:latin typeface="source-serif-pro"/>
              </a:rPr>
              <a:t>Directory.Exists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method checks if a directory exists at a specified path. Again, consider that we added </a:t>
            </a:r>
            <a:r>
              <a:rPr lang="en-GB" b="0" i="0" dirty="0" err="1">
                <a:solidFill>
                  <a:srgbClr val="242424"/>
                </a:solidFill>
                <a:effectLst/>
                <a:latin typeface="source-serif-pro"/>
              </a:rPr>
              <a:t>System.IO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 at the beginning: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CFD307-AB4B-7A00-9C74-FFE4AD57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400640"/>
            <a:ext cx="10890929" cy="614912"/>
          </a:xfrm>
        </p:spPr>
        <p:txBody>
          <a:bodyPr>
            <a:normAutofit fontScale="90000"/>
          </a:bodyPr>
          <a:lstStyle/>
          <a:p>
            <a:r>
              <a:rPr lang="en-GB" dirty="0"/>
              <a:t>Checking the Existence of Files and Directories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1962D-885F-C486-8400-F076A8B3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397" y="2623008"/>
            <a:ext cx="5816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21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D475E-1BD7-BE9A-8D00-48BBD2089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960F-6ACF-22C1-861A-CFAA4F36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72360"/>
            <a:ext cx="10890929" cy="1097280"/>
          </a:xfrm>
        </p:spPr>
        <p:txBody>
          <a:bodyPr/>
          <a:lstStyle/>
          <a:p>
            <a:r>
              <a:rPr lang="en-GB" dirty="0"/>
              <a:t>EXCEPTION HANDLING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04C83-F622-79AD-7C07-AAB5B79F6DC7}"/>
              </a:ext>
            </a:extLst>
          </p:cNvPr>
          <p:cNvSpPr txBox="1"/>
          <p:nvPr/>
        </p:nvSpPr>
        <p:spPr>
          <a:xfrm>
            <a:off x="650535" y="1264364"/>
            <a:ext cx="1110469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77"/>
              </a:rPr>
              <a:t>It is the process of responding to runtime anomalies, known as exceptions, in a controlled way. Proper handling ensures that a program continues to run or exits gracefully instead of crashing unexpectedly. C# provides structured exception handling using the keywords try, catch, finally, and throw.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6DD42-B86A-E8DC-B7BC-77E1E8794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787" y="2125974"/>
            <a:ext cx="6365580" cy="418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24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ECD94-20BF-0BFA-BECA-43F21D6B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64D2-0AB4-62A4-4679-D2368FA8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92" y="362933"/>
            <a:ext cx="10890929" cy="1097280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Keywords for Exception Handling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4E05D9-E536-85C2-A2D4-E0974E05C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017"/>
          <a:stretch>
            <a:fillRect/>
          </a:stretch>
        </p:blipFill>
        <p:spPr>
          <a:xfrm>
            <a:off x="726979" y="1110462"/>
            <a:ext cx="9285295" cy="991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E6A08C-1B09-21D0-35CD-151E96218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79" y="2207742"/>
            <a:ext cx="6369508" cy="4386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BAE696-AD6D-B12E-A073-B345619ED49D}"/>
              </a:ext>
            </a:extLst>
          </p:cNvPr>
          <p:cNvSpPr txBox="1"/>
          <p:nvPr/>
        </p:nvSpPr>
        <p:spPr>
          <a:xfrm>
            <a:off x="6655325" y="3621288"/>
            <a:ext cx="5382704" cy="1754326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The division uses a variable (x), so the error occurs at runtime, allowing the try-catch block to handle the </a:t>
            </a:r>
            <a:r>
              <a:rPr lang="en-GB" b="1" i="1" dirty="0" err="1">
                <a:solidFill>
                  <a:srgbClr val="FF0000"/>
                </a:solidFill>
              </a:rPr>
              <a:t>DivideByZeroException</a:t>
            </a:r>
            <a:r>
              <a:rPr lang="en-GB" dirty="0"/>
              <a:t>. By using try and catch, program will be controlled against crashes.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9366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0296-B6D1-7A50-1F4F-89A40848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EDDB5-3E80-2364-FAB9-1E5F8770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92" y="362933"/>
            <a:ext cx="10890929" cy="1097280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Keywords for Exception Handling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94137-273E-6158-1395-BFD9F8EA0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79" y="1175194"/>
            <a:ext cx="11191598" cy="472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66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3315-BE68-4BBD-19A9-9B0163BF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A274-F45D-A0A7-773F-CF117E4B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92" y="362933"/>
            <a:ext cx="10890929" cy="1097280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Keywords for Exception Handling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34847F-3B1B-A2C8-1468-37EA2F51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79" y="1257895"/>
            <a:ext cx="10905224" cy="469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69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B0B09-39A1-EE63-58A5-A658FB16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3C90-0F1C-019D-F85F-A3DB1A271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92" y="362933"/>
            <a:ext cx="10890929" cy="1097280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Keywords for Exception Handling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1AB6F0-654E-A918-8C0D-F06DA7B4B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78" y="1301631"/>
            <a:ext cx="11069999" cy="3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67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CF95-2C5C-A6E1-6E16-F6F112740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6B80-DF1B-0E2C-9E4F-9BA0A9D6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94" y="344079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Example-1: Handling Division by Zero</a:t>
            </a:r>
            <a:br>
              <a:rPr lang="en-GB" dirty="0"/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2F160-6AD9-6F84-9FE7-F78F2441B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" y="1218807"/>
            <a:ext cx="6946900" cy="5219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6E3B07-A8E3-73E7-1322-8EF1A2219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00" y="2316087"/>
            <a:ext cx="4330700" cy="11176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37F02EA8-F99A-3C3F-C306-B187A498E7A7}"/>
              </a:ext>
            </a:extLst>
          </p:cNvPr>
          <p:cNvSpPr/>
          <p:nvPr/>
        </p:nvSpPr>
        <p:spPr>
          <a:xfrm>
            <a:off x="7286920" y="2791708"/>
            <a:ext cx="461913" cy="243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52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0D4E-C116-CB9A-E368-2A608BD8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737B-4603-3355-526F-D3DF93C9F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238" y="391213"/>
            <a:ext cx="10890929" cy="1097280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Example 2: Multiple Catch Blocks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751DA-5826-BF35-5922-5E374E449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772" y="1189609"/>
            <a:ext cx="7637300" cy="4947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E45F19-4EEB-02F1-6427-F7F15D076E91}"/>
              </a:ext>
            </a:extLst>
          </p:cNvPr>
          <p:cNvSpPr txBox="1"/>
          <p:nvPr/>
        </p:nvSpPr>
        <p:spPr>
          <a:xfrm>
            <a:off x="4176074" y="6282121"/>
            <a:ext cx="390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GB" dirty="0"/>
              <a:t>OUTPUT: </a:t>
            </a:r>
            <a:r>
              <a:rPr lang="en-GB" i="1" dirty="0"/>
              <a:t>Array index is out of range.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2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AA54-5152-F59E-2409-0F4AAF24C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97D6-5511-442C-2442-B1E75EE5A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96946"/>
            <a:ext cx="10890929" cy="1097280"/>
          </a:xfrm>
        </p:spPr>
        <p:txBody>
          <a:bodyPr/>
          <a:lstStyle/>
          <a:p>
            <a:r>
              <a:rPr lang="en-GB" dirty="0"/>
              <a:t>Example: Exercise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83448-A8AF-A310-DAA7-47A5EFF2FA39}"/>
              </a:ext>
            </a:extLst>
          </p:cNvPr>
          <p:cNvSpPr txBox="1"/>
          <p:nvPr/>
        </p:nvSpPr>
        <p:spPr>
          <a:xfrm>
            <a:off x="820649" y="1935208"/>
            <a:ext cx="1020927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Initialize Environment:</a:t>
            </a:r>
            <a:r>
              <a:rPr lang="en-GB" sz="2200" dirty="0"/>
              <a:t> Define a constant string for your file path.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Input Collection:</a:t>
            </a:r>
            <a:r>
              <a:rPr lang="en-GB" sz="2200" dirty="0"/>
              <a:t> Create a method that initializes an array of a specific size, loops through that size to collect user strings via </a:t>
            </a:r>
            <a:r>
              <a:rPr lang="en-GB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Console.ReadLine</a:t>
            </a:r>
            <a:r>
              <a:rPr lang="en-GB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GB" sz="2200" dirty="0"/>
              <a:t>, and returns the filled array.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Start Safety Block:</a:t>
            </a:r>
            <a:r>
              <a:rPr lang="en-GB" sz="2200" dirty="0"/>
              <a:t> Open a </a:t>
            </a:r>
            <a:r>
              <a:rPr lang="en-GB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en-GB" sz="2200" dirty="0"/>
              <a:t> block to protect your code from crashes during disk access.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Write Data:</a:t>
            </a:r>
            <a:r>
              <a:rPr lang="en-GB" sz="2200" dirty="0"/>
              <a:t> Use a built-in method to write the entire array to the file path at once.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Read Data (Resource Management):</a:t>
            </a:r>
            <a:r>
              <a:rPr lang="en-GB" sz="2200" dirty="0"/>
              <a:t> Open a </a:t>
            </a:r>
            <a:r>
              <a:rPr lang="en-GB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n-GB" sz="2200" dirty="0"/>
              <a:t> block with a </a:t>
            </a:r>
            <a:r>
              <a:rPr lang="en-GB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StreamReader</a:t>
            </a:r>
            <a:r>
              <a:rPr lang="en-GB" sz="2200" dirty="0"/>
              <a:t> to ensure the file handle is released even if an error occurs.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Iteration:</a:t>
            </a:r>
            <a:r>
              <a:rPr lang="en-GB" sz="2200" dirty="0"/>
              <a:t> Inside a loop, check if the "end of stream" has been reached; if not, read one line at a time and print it to the console with a prefix.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Error Handling:</a:t>
            </a:r>
            <a:r>
              <a:rPr lang="en-GB" sz="2200" dirty="0"/>
              <a:t> Add a </a:t>
            </a:r>
            <a:r>
              <a:rPr lang="en-GB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en-GB" sz="2200" dirty="0"/>
              <a:t> block specifically for </a:t>
            </a:r>
            <a:r>
              <a:rPr lang="en-GB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IOException</a:t>
            </a:r>
            <a:r>
              <a:rPr lang="en-GB" sz="2200" dirty="0"/>
              <a:t> to display a clean message to the user if the file is locked or the disk is full.</a:t>
            </a:r>
          </a:p>
          <a:p>
            <a:endParaRPr lang="en-GB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9DB7A-32E9-8D67-991F-8693EFBA2C57}"/>
              </a:ext>
            </a:extLst>
          </p:cNvPr>
          <p:cNvSpPr txBox="1"/>
          <p:nvPr/>
        </p:nvSpPr>
        <p:spPr>
          <a:xfrm>
            <a:off x="820649" y="1295385"/>
            <a:ext cx="491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 your turn to create the following program:</a:t>
            </a:r>
          </a:p>
        </p:txBody>
      </p:sp>
    </p:spTree>
    <p:extLst>
      <p:ext uri="{BB962C8B-B14F-4D97-AF65-F5344CB8AC3E}">
        <p14:creationId xmlns:p14="http://schemas.microsoft.com/office/powerpoint/2010/main" val="2373094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8EE0BF-480E-5144-C381-6F85C2407DBA}"/>
              </a:ext>
            </a:extLst>
          </p:cNvPr>
          <p:cNvSpPr txBox="1"/>
          <p:nvPr/>
        </p:nvSpPr>
        <p:spPr>
          <a:xfrm>
            <a:off x="2668713" y="0"/>
            <a:ext cx="609771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using System;</a:t>
            </a:r>
          </a:p>
          <a:p>
            <a:r>
              <a:rPr lang="en-GB" sz="1100" dirty="0"/>
              <a:t>using </a:t>
            </a:r>
            <a:r>
              <a:rPr lang="en-GB" sz="1100" dirty="0" err="1"/>
              <a:t>System.IO</a:t>
            </a:r>
            <a:r>
              <a:rPr lang="en-GB" sz="1100" dirty="0"/>
              <a:t>;</a:t>
            </a:r>
          </a:p>
          <a:p>
            <a:endParaRPr lang="en-GB" sz="1100" dirty="0"/>
          </a:p>
          <a:p>
            <a:r>
              <a:rPr lang="en-GB" sz="1100" dirty="0"/>
              <a:t>class Program</a:t>
            </a:r>
          </a:p>
          <a:p>
            <a:r>
              <a:rPr lang="en-GB" sz="1100" dirty="0"/>
              <a:t>{</a:t>
            </a:r>
          </a:p>
          <a:p>
            <a:r>
              <a:rPr lang="en-GB" sz="1100" dirty="0"/>
              <a:t>    static void Main()</a:t>
            </a:r>
          </a:p>
          <a:p>
            <a:r>
              <a:rPr lang="en-GB" sz="1100" dirty="0"/>
              <a:t>    {</a:t>
            </a:r>
          </a:p>
          <a:p>
            <a:r>
              <a:rPr lang="en-GB" sz="1100" dirty="0"/>
              <a:t>        string path = "</a:t>
            </a:r>
            <a:r>
              <a:rPr lang="en-GB" sz="1100" dirty="0" err="1"/>
              <a:t>data.txt</a:t>
            </a:r>
            <a:r>
              <a:rPr lang="en-GB" sz="1100" dirty="0"/>
              <a:t>";</a:t>
            </a:r>
          </a:p>
          <a:p>
            <a:r>
              <a:rPr lang="en-GB" sz="1100" dirty="0"/>
              <a:t>        string[] inputs = ........... (3)</a:t>
            </a:r>
          </a:p>
          <a:p>
            <a:r>
              <a:rPr lang="en-GB" sz="1100" dirty="0"/>
              <a:t>        </a:t>
            </a:r>
          </a:p>
          <a:p>
            <a:r>
              <a:rPr lang="en-GB" sz="1100" dirty="0"/>
              <a:t>        ....</a:t>
            </a:r>
          </a:p>
          <a:p>
            <a:r>
              <a:rPr lang="en-GB" sz="1100" dirty="0"/>
              <a:t>        {</a:t>
            </a:r>
          </a:p>
          <a:p>
            <a:r>
              <a:rPr lang="en-GB" sz="1100" dirty="0"/>
              <a:t>            File.  ........        (path, inputs);</a:t>
            </a:r>
          </a:p>
          <a:p>
            <a:r>
              <a:rPr lang="en-GB" sz="1100" dirty="0"/>
              <a:t>            </a:t>
            </a:r>
            <a:r>
              <a:rPr lang="en-GB" sz="1100" dirty="0" err="1"/>
              <a:t>Console.WriteLine</a:t>
            </a:r>
            <a:r>
              <a:rPr lang="en-GB" sz="1100" dirty="0"/>
              <a:t>("File saved. Reading back contents:");</a:t>
            </a:r>
          </a:p>
          <a:p>
            <a:endParaRPr lang="en-GB" sz="1100" dirty="0"/>
          </a:p>
          <a:p>
            <a:r>
              <a:rPr lang="en-GB" sz="1100" dirty="0"/>
              <a:t>            using (</a:t>
            </a:r>
            <a:r>
              <a:rPr lang="en-GB" sz="1100" dirty="0" err="1"/>
              <a:t>StreamReader</a:t>
            </a:r>
            <a:r>
              <a:rPr lang="en-GB" sz="1100" dirty="0"/>
              <a:t> reader = new </a:t>
            </a:r>
            <a:r>
              <a:rPr lang="en-GB" sz="1100" dirty="0" err="1"/>
              <a:t>StreamReader</a:t>
            </a:r>
            <a:r>
              <a:rPr lang="en-GB" sz="1100" dirty="0"/>
              <a:t>(path))</a:t>
            </a:r>
          </a:p>
          <a:p>
            <a:r>
              <a:rPr lang="en-GB" sz="1100" dirty="0"/>
              <a:t>            {</a:t>
            </a:r>
          </a:p>
          <a:p>
            <a:r>
              <a:rPr lang="en-GB" sz="1100" dirty="0"/>
              <a:t>                while (!reader.  ............  )</a:t>
            </a:r>
          </a:p>
          <a:p>
            <a:r>
              <a:rPr lang="en-GB" sz="1100" dirty="0"/>
              <a:t>                {</a:t>
            </a:r>
          </a:p>
          <a:p>
            <a:r>
              <a:rPr lang="en-GB" sz="1100" dirty="0"/>
              <a:t>                    </a:t>
            </a:r>
            <a:r>
              <a:rPr lang="en-GB" sz="1100" dirty="0" err="1"/>
              <a:t>Console.WriteLine</a:t>
            </a:r>
            <a:r>
              <a:rPr lang="en-GB" sz="1100" dirty="0"/>
              <a:t>($"Row: {</a:t>
            </a:r>
            <a:r>
              <a:rPr lang="en-GB" sz="1100" dirty="0" err="1"/>
              <a:t>reader.ReadLine</a:t>
            </a:r>
            <a:r>
              <a:rPr lang="en-GB" sz="1100" dirty="0"/>
              <a:t>()}");</a:t>
            </a:r>
          </a:p>
          <a:p>
            <a:r>
              <a:rPr lang="en-GB" sz="1100" dirty="0"/>
              <a:t>                }</a:t>
            </a:r>
          </a:p>
          <a:p>
            <a:r>
              <a:rPr lang="en-GB" sz="1100" dirty="0"/>
              <a:t>            }</a:t>
            </a:r>
          </a:p>
          <a:p>
            <a:r>
              <a:rPr lang="en-GB" sz="1100" dirty="0"/>
              <a:t>        }</a:t>
            </a:r>
          </a:p>
          <a:p>
            <a:r>
              <a:rPr lang="en-GB" sz="1100" dirty="0"/>
              <a:t>        ..... (</a:t>
            </a:r>
            <a:r>
              <a:rPr lang="en-GB" sz="1100" dirty="0" err="1"/>
              <a:t>IOException</a:t>
            </a:r>
            <a:r>
              <a:rPr lang="en-GB" sz="1100" dirty="0"/>
              <a:t> ex)</a:t>
            </a:r>
          </a:p>
          <a:p>
            <a:r>
              <a:rPr lang="en-GB" sz="1100" dirty="0"/>
              <a:t>        {</a:t>
            </a:r>
          </a:p>
          <a:p>
            <a:r>
              <a:rPr lang="en-GB" sz="1100" dirty="0"/>
              <a:t>            </a:t>
            </a:r>
            <a:r>
              <a:rPr lang="en-GB" sz="1100" dirty="0" err="1"/>
              <a:t>Console.WriteLine</a:t>
            </a:r>
            <a:r>
              <a:rPr lang="en-GB" sz="1100" dirty="0"/>
              <a:t>($"Error accessing file: {</a:t>
            </a:r>
            <a:r>
              <a:rPr lang="en-GB" sz="1100" dirty="0" err="1"/>
              <a:t>ex.Message</a:t>
            </a:r>
            <a:r>
              <a:rPr lang="en-GB" sz="1100" dirty="0"/>
              <a:t>}");</a:t>
            </a:r>
          </a:p>
          <a:p>
            <a:r>
              <a:rPr lang="en-GB" sz="1100" dirty="0"/>
              <a:t>        }</a:t>
            </a:r>
          </a:p>
          <a:p>
            <a:r>
              <a:rPr lang="en-GB" sz="1100" dirty="0"/>
              <a:t>    }</a:t>
            </a:r>
          </a:p>
          <a:p>
            <a:endParaRPr lang="en-GB" sz="1100" dirty="0"/>
          </a:p>
          <a:p>
            <a:r>
              <a:rPr lang="en-GB" sz="1100" dirty="0"/>
              <a:t>    static   ...................   (int count)</a:t>
            </a:r>
          </a:p>
          <a:p>
            <a:r>
              <a:rPr lang="en-GB" sz="1100" dirty="0"/>
              <a:t>    {</a:t>
            </a:r>
          </a:p>
          <a:p>
            <a:r>
              <a:rPr lang="en-GB" sz="1100" dirty="0"/>
              <a:t>        string[] </a:t>
            </a:r>
            <a:r>
              <a:rPr lang="en-GB" sz="1100" dirty="0" err="1"/>
              <a:t>strArray</a:t>
            </a:r>
            <a:r>
              <a:rPr lang="en-GB" sz="1100" dirty="0"/>
              <a:t> = new string[count];</a:t>
            </a:r>
          </a:p>
          <a:p>
            <a:r>
              <a:rPr lang="en-GB" sz="1100" dirty="0"/>
              <a:t>        for (    ..............   )</a:t>
            </a:r>
          </a:p>
          <a:p>
            <a:r>
              <a:rPr lang="en-GB" sz="1100" dirty="0"/>
              <a:t>        {</a:t>
            </a:r>
          </a:p>
          <a:p>
            <a:r>
              <a:rPr lang="en-GB" sz="1100" dirty="0"/>
              <a:t>            </a:t>
            </a:r>
            <a:r>
              <a:rPr lang="en-GB" sz="1100" dirty="0" err="1"/>
              <a:t>Console.Write</a:t>
            </a:r>
            <a:r>
              <a:rPr lang="en-GB" sz="1100" dirty="0"/>
              <a:t>($"Enter item {</a:t>
            </a:r>
            <a:r>
              <a:rPr lang="en-GB" sz="1100" dirty="0" err="1"/>
              <a:t>i</a:t>
            </a:r>
            <a:r>
              <a:rPr lang="en-GB" sz="1100" dirty="0"/>
              <a:t> + 1}: ");</a:t>
            </a:r>
          </a:p>
          <a:p>
            <a:r>
              <a:rPr lang="en-GB" sz="1100" dirty="0"/>
              <a:t>            </a:t>
            </a:r>
            <a:r>
              <a:rPr lang="en-GB" sz="1100" dirty="0" err="1"/>
              <a:t>strArray</a:t>
            </a:r>
            <a:r>
              <a:rPr lang="en-GB" sz="1100" dirty="0"/>
              <a:t>[</a:t>
            </a:r>
            <a:r>
              <a:rPr lang="en-GB" sz="1100" dirty="0" err="1"/>
              <a:t>i</a:t>
            </a:r>
            <a:r>
              <a:rPr lang="en-GB" sz="1100" dirty="0"/>
              <a:t>] = Console. ............   ();</a:t>
            </a:r>
          </a:p>
          <a:p>
            <a:r>
              <a:rPr lang="en-GB" sz="1100" dirty="0"/>
              <a:t>        }</a:t>
            </a:r>
          </a:p>
          <a:p>
            <a:r>
              <a:rPr lang="en-GB" sz="1100" dirty="0"/>
              <a:t>        return </a:t>
            </a:r>
            <a:r>
              <a:rPr lang="en-GB" sz="1100" dirty="0" err="1"/>
              <a:t>strArray</a:t>
            </a:r>
            <a:r>
              <a:rPr lang="en-GB" sz="1100" dirty="0"/>
              <a:t>;</a:t>
            </a:r>
          </a:p>
          <a:p>
            <a:r>
              <a:rPr lang="en-GB" sz="1100" dirty="0"/>
              <a:t>    }</a:t>
            </a:r>
          </a:p>
          <a:p>
            <a:r>
              <a:rPr lang="en-GB" sz="11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5A9FC-AB8E-05C8-67A6-42ADE20BBF4B}"/>
              </a:ext>
            </a:extLst>
          </p:cNvPr>
          <p:cNvSpPr txBox="1"/>
          <p:nvPr/>
        </p:nvSpPr>
        <p:spPr>
          <a:xfrm>
            <a:off x="8044665" y="2691829"/>
            <a:ext cx="4012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Use this optional  scaffolding to begin </a:t>
            </a:r>
          </a:p>
          <a:p>
            <a:r>
              <a:rPr lang="en-GB" dirty="0"/>
              <a:t>with coding.</a:t>
            </a:r>
          </a:p>
        </p:txBody>
      </p:sp>
    </p:spTree>
    <p:extLst>
      <p:ext uri="{BB962C8B-B14F-4D97-AF65-F5344CB8AC3E}">
        <p14:creationId xmlns:p14="http://schemas.microsoft.com/office/powerpoint/2010/main" val="868014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6CBD-7E74-126F-6DE5-8BF77C4CB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8973" y="97606"/>
            <a:ext cx="10890929" cy="1097280"/>
          </a:xfrm>
        </p:spPr>
        <p:txBody>
          <a:bodyPr/>
          <a:lstStyle/>
          <a:p>
            <a:r>
              <a:rPr lang="en-GB" dirty="0"/>
              <a:t>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B24DC9-85FB-EA0A-DD19-A356150E3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38"/>
          <a:stretch>
            <a:fillRect/>
          </a:stretch>
        </p:blipFill>
        <p:spPr>
          <a:xfrm>
            <a:off x="206868" y="0"/>
            <a:ext cx="6800107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3DEA10-24AB-A83C-76B8-CEF3FE069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239"/>
          <a:stretch>
            <a:fillRect/>
          </a:stretch>
        </p:blipFill>
        <p:spPr>
          <a:xfrm>
            <a:off x="7099441" y="1986524"/>
            <a:ext cx="5033481" cy="288495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9E0D75-B9CC-E672-4244-9BFC340A966C}"/>
              </a:ext>
            </a:extLst>
          </p:cNvPr>
          <p:cNvCxnSpPr/>
          <p:nvPr/>
        </p:nvCxnSpPr>
        <p:spPr>
          <a:xfrm flipV="1">
            <a:off x="4530903" y="6390526"/>
            <a:ext cx="2866490" cy="467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97E7CB-8B7C-E900-6CCC-7F54B14C6A64}"/>
              </a:ext>
            </a:extLst>
          </p:cNvPr>
          <p:cNvCxnSpPr/>
          <p:nvPr/>
        </p:nvCxnSpPr>
        <p:spPr>
          <a:xfrm flipH="1" flipV="1">
            <a:off x="6729573" y="1194886"/>
            <a:ext cx="565079" cy="4990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B31681-445A-00DE-1D3C-EF89F1F68223}"/>
              </a:ext>
            </a:extLst>
          </p:cNvPr>
          <p:cNvCxnSpPr/>
          <p:nvPr/>
        </p:nvCxnSpPr>
        <p:spPr>
          <a:xfrm>
            <a:off x="6832315" y="1194886"/>
            <a:ext cx="1582220" cy="79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91E31A-C237-063A-AF6E-1357A7B0A453}"/>
              </a:ext>
            </a:extLst>
          </p:cNvPr>
          <p:cNvSpPr txBox="1"/>
          <p:nvPr/>
        </p:nvSpPr>
        <p:spPr>
          <a:xfrm>
            <a:off x="7397393" y="6113393"/>
            <a:ext cx="1840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Continues above</a:t>
            </a:r>
          </a:p>
        </p:txBody>
      </p:sp>
    </p:spTree>
    <p:extLst>
      <p:ext uri="{BB962C8B-B14F-4D97-AF65-F5344CB8AC3E}">
        <p14:creationId xmlns:p14="http://schemas.microsoft.com/office/powerpoint/2010/main" val="4195700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5F4D-0A35-E516-9AB4-244E71DD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GB" sz="6600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9C0F7-9430-BE53-E149-4E97F014A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6564" y="4490100"/>
            <a:ext cx="8298873" cy="12828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GB" sz="1500" b="1" cap="all" spc="300" dirty="0"/>
              <a:t>Check out course website: https://</a:t>
            </a:r>
            <a:r>
              <a:rPr lang="en-GB" sz="1500" b="1" cap="all" spc="300" dirty="0" err="1"/>
              <a:t>gazi</a:t>
            </a:r>
            <a:r>
              <a:rPr lang="en-GB" sz="1500" b="1" cap="all" spc="300" dirty="0"/>
              <a:t>-end-</a:t>
            </a:r>
            <a:r>
              <a:rPr lang="en-GB" sz="1500" b="1" cap="all" spc="300" dirty="0" err="1"/>
              <a:t>muh.github.io</a:t>
            </a:r>
            <a:endParaRPr lang="en-GB" sz="1500" b="1" cap="all" spc="300" dirty="0"/>
          </a:p>
          <a:p>
            <a:pPr algn="ctr"/>
            <a:r>
              <a:rPr lang="en-GB" sz="1500" b="1" cap="all" spc="300" dirty="0"/>
              <a:t>Got any questions later?  </a:t>
            </a:r>
          </a:p>
          <a:p>
            <a:pPr marL="0" lvl="1" algn="ctr">
              <a:spcBef>
                <a:spcPts val="1000"/>
              </a:spcBef>
            </a:pPr>
            <a:r>
              <a:rPr lang="en-GB" sz="1500" b="1" cap="all" spc="300" dirty="0">
                <a:solidFill>
                  <a:schemeClr val="tx1"/>
                </a:solidFill>
              </a:rPr>
              <a:t>Send me an email: </a:t>
            </a:r>
            <a:r>
              <a:rPr lang="en-GB" sz="1500" b="1" cap="all" spc="300" dirty="0" err="1">
                <a:solidFill>
                  <a:schemeClr val="tx1"/>
                </a:solidFill>
              </a:rPr>
              <a:t>dr.ercan.ezin@gmail.com</a:t>
            </a:r>
            <a:endParaRPr lang="en-GB" sz="1500" b="1" cap="all" spc="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48693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3241</TotalTime>
  <Words>1006</Words>
  <Application>Microsoft Macintosh PowerPoint</Application>
  <PresentationFormat>Widescreen</PresentationFormat>
  <Paragraphs>108</Paragraphs>
  <Slides>24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Arial</vt:lpstr>
      <vt:lpstr>Grandview Display</vt:lpstr>
      <vt:lpstr>Monaco</vt:lpstr>
      <vt:lpstr>Nunito</vt:lpstr>
      <vt:lpstr>sohne</vt:lpstr>
      <vt:lpstr>source-serif-pro</vt:lpstr>
      <vt:lpstr>Wingdings</vt:lpstr>
      <vt:lpstr>DashVTI</vt:lpstr>
      <vt:lpstr>GAZİ UNIVERSITY  FACULTY OF ENGINEERING DEPARTMENT OF INDUSTRIAL ENGINEERING</vt:lpstr>
      <vt:lpstr>Attendance</vt:lpstr>
      <vt:lpstr>FILE HANDLING</vt:lpstr>
      <vt:lpstr>FILE HANDLING CLASSES</vt:lpstr>
      <vt:lpstr>CREATING A FILE</vt:lpstr>
      <vt:lpstr>WRITING LINES TO A FILE</vt:lpstr>
      <vt:lpstr>READING LINES FROM A FILE</vt:lpstr>
      <vt:lpstr>Solution</vt:lpstr>
      <vt:lpstr>APPENDING NEW LINE TO FILE</vt:lpstr>
      <vt:lpstr>MANAGING FILE PATHS</vt:lpstr>
      <vt:lpstr>GET FILE NAME AND EXTENSION</vt:lpstr>
      <vt:lpstr>Checking the Existence of Files and Directories  </vt:lpstr>
      <vt:lpstr>Checking the Existence of Files and Directories</vt:lpstr>
      <vt:lpstr>EXCEPTION HANDLING</vt:lpstr>
      <vt:lpstr>Keywords for Exception Handling  </vt:lpstr>
      <vt:lpstr>Keywords for Exception Handling  </vt:lpstr>
      <vt:lpstr>Keywords for Exception Handling  </vt:lpstr>
      <vt:lpstr>Keywords for Exception Handling  </vt:lpstr>
      <vt:lpstr>Example-1: Handling Division by Zero </vt:lpstr>
      <vt:lpstr>Example 2: Multiple Catch Blocks  </vt:lpstr>
      <vt:lpstr>Example: Exercise</vt:lpstr>
      <vt:lpstr>PowerPoint Presentation</vt:lpstr>
      <vt:lpstr>Solution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Öğr. Gör. Dr. Ercan EZİN</dc:creator>
  <cp:lastModifiedBy>Öğr. Gör. Dr. Ercan EZİN</cp:lastModifiedBy>
  <cp:revision>460</cp:revision>
  <dcterms:created xsi:type="dcterms:W3CDTF">2026-02-08T15:49:04Z</dcterms:created>
  <dcterms:modified xsi:type="dcterms:W3CDTF">2026-04-26T16:01:30Z</dcterms:modified>
</cp:coreProperties>
</file>